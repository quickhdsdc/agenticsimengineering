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4213A"/>
          </a:solidFill>
          <a:ln w="1270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0A5FA"/>
                </a:solidFill>
                <a:latin typeface="Aptos"/>
              </a:rPr>
              <a:t>OPSWORLD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640080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Aptos"/>
              </a:rPr>
              <a:t>One decision infrastructure
for DES and MILP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6172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CBD5E1"/>
                </a:solidFill>
                <a:latin typeface="Aptos"/>
              </a:rPr>
              <a:t>Concept, evidence, and the current implementation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960120"/>
            <a:ext cx="3017520" cy="950976"/>
          </a:xfrm>
          <a:prstGeom prst="roundRect">
            <a:avLst/>
          </a:prstGeom>
          <a:solidFill>
            <a:srgbClr val="153A3A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8512" y="1124712"/>
            <a:ext cx="25968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5EEAD4"/>
                </a:solidFill>
                <a:latin typeface="Aptos"/>
              </a:rPr>
              <a:t>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1508760"/>
            <a:ext cx="2596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Aptos"/>
              </a:rPr>
              <a:t>simulate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966960" y="1911095"/>
            <a:ext cx="0" cy="493777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58200" y="2487168"/>
            <a:ext cx="3017520" cy="950976"/>
          </a:xfrm>
          <a:prstGeom prst="roundRect">
            <a:avLst/>
          </a:prstGeom>
          <a:solidFill>
            <a:srgbClr val="1E3658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2651760"/>
            <a:ext cx="25968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3C5FD"/>
                </a:solidFill>
                <a:latin typeface="Aptos"/>
              </a:rPr>
              <a:t>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3035808"/>
            <a:ext cx="2596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Aptos"/>
              </a:rPr>
              <a:t>evaluate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66960" y="3438144"/>
            <a:ext cx="0" cy="493776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58200" y="4014215"/>
            <a:ext cx="3017520" cy="950976"/>
          </a:xfrm>
          <a:prstGeom prst="roundRect">
            <a:avLst/>
          </a:prstGeom>
          <a:solidFill>
            <a:srgbClr val="49301F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4178807"/>
            <a:ext cx="25968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DBA74"/>
                </a:solidFill>
                <a:latin typeface="Aptos"/>
              </a:rPr>
              <a:t>MILP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4562855"/>
            <a:ext cx="2596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Aptos"/>
              </a:rPr>
              <a:t>optimise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81344"/>
            <a:ext cx="6035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Aptos"/>
              </a:rPr>
              <a:t>Current repository review - 30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DESIGN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The starting point: two strong but isolated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27632"/>
            <a:ext cx="48920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627632"/>
            <a:ext cx="73152" cy="4069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0704" y="1828800"/>
            <a:ext cx="4379975" cy="347472"/>
          </a:xfrm>
          <a:prstGeom prst="roundRect">
            <a:avLst/>
          </a:prstGeom>
          <a:solidFill>
            <a:srgbClr val="DDF7F2"/>
          </a:solidFill>
          <a:ln w="12700">
            <a:solidFill>
              <a:srgbClr val="DD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1874519"/>
            <a:ext cx="428853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  <a:latin typeface="Aptos"/>
              </a:rPr>
              <a:t>Shop-floor 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86584"/>
            <a:ext cx="4270248" cy="3108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475569"/>
                </a:solidFill>
                <a:latin typeface="Aptos"/>
              </a:rPr>
              <a:t>Decision
Rule weights
Engine
Differentiable DES
Native strength
Trajectories and pathwise gradients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27632"/>
            <a:ext cx="48920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627632"/>
            <a:ext cx="73152" cy="4069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48272" y="1828800"/>
            <a:ext cx="4379975" cy="347472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FF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1874519"/>
            <a:ext cx="428853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580C"/>
                </a:solidFill>
                <a:latin typeface="Aptos"/>
              </a:rPr>
              <a:t>Material supply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2386584"/>
            <a:ext cx="4270248" cy="3108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475569"/>
                </a:solidFill>
                <a:latin typeface="Aptos"/>
              </a:rPr>
              <a:t>Decision
Storage and flow configuration
Engine
MILP + dynamic models
Native strength
Exact optimisation and dual prices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5833872"/>
            <a:ext cx="6199632" cy="347472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D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1" y="5879592"/>
            <a:ext cx="610819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Aptos"/>
              </a:rPr>
              <a:t>Different APIs. Different decision forms. No shared evaluation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DESIGN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The key move is separation, not mathematical unification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4748B"/>
                </a:solidFill>
                <a:latin typeface="Aptos"/>
              </a:rPr>
              <a:t>Can we separate...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194560"/>
            <a:ext cx="3703320" cy="1481328"/>
          </a:xfrm>
          <a:prstGeom prst="roundRect">
            <a:avLst/>
          </a:prstGeom>
          <a:solidFill>
            <a:srgbClr val="DDF7F2"/>
          </a:solidFill>
          <a:ln w="2032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2578608"/>
            <a:ext cx="315468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F766E"/>
                </a:solidFill>
                <a:latin typeface="Aptos"/>
              </a:rPr>
              <a:t>How the system responds
to a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9752" y="2194560"/>
            <a:ext cx="3703320" cy="1481328"/>
          </a:xfrm>
          <a:prstGeom prst="roundRect">
            <a:avLst/>
          </a:prstGeom>
          <a:solidFill>
            <a:srgbClr val="FFF0E5"/>
          </a:solidFill>
          <a:ln w="2032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34072" y="2578608"/>
            <a:ext cx="315468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EA580C"/>
                </a:solidFill>
                <a:latin typeface="Aptos"/>
              </a:rPr>
              <a:t>How we search for
the best decision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47488" y="2935224"/>
            <a:ext cx="20574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85232" y="2670048"/>
            <a:ext cx="621792" cy="347472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D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2715768"/>
            <a:ext cx="5303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91C1C"/>
                </a:solidFill>
                <a:latin typeface="Aptos"/>
              </a:rPr>
              <a:t>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670048"/>
            <a:ext cx="621792" cy="347472"/>
          </a:xfrm>
          <a:prstGeom prst="roundRect">
            <a:avLst/>
          </a:prstGeom>
          <a:solidFill>
            <a:srgbClr val="E2F7E7"/>
          </a:solidFill>
          <a:ln w="12700">
            <a:solidFill>
              <a:srgbClr val="E2F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715768"/>
            <a:ext cx="5303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5803D"/>
                </a:solidFill>
                <a:latin typeface="Aptos"/>
              </a:rPr>
              <a:t>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462272"/>
            <a:ext cx="8366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11827"/>
                </a:solidFill>
                <a:latin typeface="Aptos"/>
              </a:rPr>
              <a:t>The DES and MILP stay different inside. They become interoperable outside.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1" y="5193792"/>
            <a:ext cx="8028431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This preserves the value of each domain model while making solvers replaceable.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What does 'opsworld' mean?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2563EB"/>
                </a:solidFill>
                <a:latin typeface="Aptos"/>
              </a:rPr>
              <a:t>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1682496"/>
            <a:ext cx="411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64748B"/>
                </a:solidFill>
                <a:latin typeface="Aptos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9164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0F766E"/>
                </a:solidFill>
                <a:latin typeface="Aptos"/>
              </a:rPr>
              <a:t>world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82496"/>
            <a:ext cx="411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64748B"/>
                </a:solidFill>
                <a:latin typeface="Aptos"/>
              </a:rPr>
              <a:t>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9164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opsworld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0432" y="2542032"/>
            <a:ext cx="9857232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6192" y="2852928"/>
            <a:ext cx="912571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ptos"/>
              </a:rPr>
              <a:t>Given decision d, what consequences does the model predict?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343400"/>
            <a:ext cx="2240280" cy="34747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389120"/>
            <a:ext cx="21488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Aptos"/>
              </a:rPr>
              <a:t>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67328" y="4343400"/>
            <a:ext cx="2240280" cy="347472"/>
          </a:xfrm>
          <a:prstGeom prst="roundRect">
            <a:avLst/>
          </a:prstGeom>
          <a:solidFill>
            <a:srgbClr val="DDF7F2"/>
          </a:solidFill>
          <a:ln w="12700">
            <a:solidFill>
              <a:srgbClr val="DD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3048" y="4389120"/>
            <a:ext cx="21488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  <a:latin typeface="Aptos"/>
              </a:rPr>
              <a:t>KPIs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656" y="4343400"/>
            <a:ext cx="2240280" cy="347472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D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389120"/>
            <a:ext cx="21488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Aptos"/>
              </a:rPr>
              <a:t>Violations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4343400"/>
            <a:ext cx="2240280" cy="347472"/>
          </a:xfrm>
          <a:prstGeom prst="roundRect">
            <a:avLst/>
          </a:prstGeom>
          <a:solidFill>
            <a:srgbClr val="F4E8FF"/>
          </a:solidFill>
          <a:ln w="12700">
            <a:solidFill>
              <a:srgbClr val="F4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4" y="4389120"/>
            <a:ext cx="21488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E22CE"/>
                </a:solidFill>
                <a:latin typeface="Aptos"/>
              </a:rPr>
              <a:t>Optional sensitivity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5239512"/>
            <a:ext cx="839419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11827"/>
                </a:solidFill>
                <a:latin typeface="Aptos"/>
              </a:rPr>
              <a:t>A world is an evaluator of consequences - not an optimiser.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One small contract creates a reusable optimisation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5072" y="1600200"/>
            <a:ext cx="4187952" cy="1097280"/>
          </a:xfrm>
          <a:prstGeom prst="roundRect">
            <a:avLst/>
          </a:prstGeom>
          <a:solidFill>
            <a:srgbClr val="DDF7F2"/>
          </a:solidFill>
          <a:ln w="228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810512"/>
            <a:ext cx="36027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F766E"/>
                </a:solidFill>
                <a:latin typeface="Aptos"/>
              </a:rPr>
              <a:t>WORLD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76272"/>
            <a:ext cx="36027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How the system responds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041648"/>
            <a:ext cx="3017520" cy="1143000"/>
          </a:xfrm>
          <a:prstGeom prst="roundRect">
            <a:avLst/>
          </a:prstGeom>
          <a:solidFill>
            <a:srgbClr val="FFF0E5"/>
          </a:solidFill>
          <a:ln w="2032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251960"/>
            <a:ext cx="2542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EA580C"/>
                </a:solidFill>
                <a:latin typeface="Aptos"/>
              </a:rPr>
              <a:t>SOLVER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645152"/>
            <a:ext cx="25420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How to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041648"/>
            <a:ext cx="3017520" cy="1143000"/>
          </a:xfrm>
          <a:prstGeom prst="roundRect">
            <a:avLst/>
          </a:prstGeom>
          <a:solidFill>
            <a:srgbClr val="E8F0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4" y="4251960"/>
            <a:ext cx="2542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563EB"/>
                </a:solidFill>
                <a:latin typeface="Aptos"/>
              </a:rPr>
              <a:t>DECISION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645152"/>
            <a:ext cx="2651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How candidates are formed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383280" y="2724912"/>
            <a:ext cx="1353312" cy="1280160"/>
          </a:xfrm>
          <a:prstGeom prst="line">
            <a:avLst/>
          </a:prstGeom>
          <a:ln w="2794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83280" y="3145536"/>
            <a:ext cx="1051560" cy="347472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FF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191256"/>
            <a:ext cx="960119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580C"/>
                </a:solidFill>
                <a:latin typeface="Aptos"/>
              </a:rPr>
              <a:t>Decision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767328" y="2724912"/>
            <a:ext cx="1463040" cy="1280160"/>
          </a:xfrm>
          <a:prstGeom prst="line">
            <a:avLst/>
          </a:prstGeom>
          <a:ln w="279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70832" y="3401568"/>
            <a:ext cx="1207008" cy="347472"/>
          </a:xfrm>
          <a:prstGeom prst="roundRect">
            <a:avLst/>
          </a:prstGeom>
          <a:solidFill>
            <a:srgbClr val="DDF7F2"/>
          </a:solidFill>
          <a:ln w="12700">
            <a:solidFill>
              <a:srgbClr val="DD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3447288"/>
            <a:ext cx="111556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766E"/>
                </a:solidFill>
                <a:latin typeface="Aptos"/>
              </a:rPr>
              <a:t>Evaluation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913632" y="4617720"/>
            <a:ext cx="4352543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532120" y="4379976"/>
            <a:ext cx="1444752" cy="34747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4425696"/>
            <a:ext cx="13533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initial / neighbour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715000"/>
            <a:ext cx="9006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11827"/>
                </a:solidFill>
                <a:latin typeface="Aptos"/>
              </a:rPr>
              <a:t>Evaluation is the common message. The World is the central behaviour contract.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DOMAIN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Two domains realise the same contract through adapters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3832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73152" cy="42793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1801368"/>
            <a:ext cx="2871216" cy="347472"/>
          </a:xfrm>
          <a:prstGeom prst="roundRect">
            <a:avLst/>
          </a:prstGeom>
          <a:solidFill>
            <a:srgbClr val="DDF7F2"/>
          </a:solidFill>
          <a:ln w="12700">
            <a:solidFill>
              <a:srgbClr val="DD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1847088"/>
            <a:ext cx="277977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  <a:latin typeface="Aptos"/>
              </a:rPr>
              <a:t>DispatchWorld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359152"/>
            <a:ext cx="2761488" cy="33192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Common view
Decision -&gt; Evaluation
Inside
Differentiable DES kernel
Offers
Evaluation + pathwise gradient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600200"/>
            <a:ext cx="33832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600200"/>
            <a:ext cx="73152" cy="42793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40" y="1801368"/>
            <a:ext cx="2871216" cy="34747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847088"/>
            <a:ext cx="277977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Aptos"/>
              </a:rPr>
              <a:t>Static / Plan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2359152"/>
            <a:ext cx="2761488" cy="33192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Common view
Decision -&gt; Evaluation
Inside
Independent NumPy evaluator
Offers
Cost, KPIs, feasibility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600200"/>
            <a:ext cx="33832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600200"/>
            <a:ext cx="73152" cy="42793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39327" y="1801368"/>
            <a:ext cx="2871216" cy="347472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FF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1847088"/>
            <a:ext cx="277977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580C"/>
                </a:solidFill>
                <a:latin typeface="Aptos"/>
              </a:rPr>
              <a:t>MilpWorld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359152"/>
            <a:ext cx="2761488" cy="33192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Common view
Decision -&gt; Evaluation
Inside
Pyomo algebra + HiGHS
Offers
Evaluation + exact solve + duals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5998464"/>
            <a:ext cx="8302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11827"/>
                </a:solidFill>
                <a:latin typeface="Aptos"/>
              </a:rPr>
              <a:t>Adapters translate. Domain kernels keep their own mathematics.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SCOPE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What 'combining DES and MILP' means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64208"/>
            <a:ext cx="4919472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664208"/>
            <a:ext cx="73152" cy="4133087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0704" y="1865376"/>
            <a:ext cx="4407408" cy="347472"/>
          </a:xfrm>
          <a:prstGeom prst="roundRect">
            <a:avLst/>
          </a:prstGeom>
          <a:solidFill>
            <a:srgbClr val="E2F7E7"/>
          </a:solidFill>
          <a:ln w="12700">
            <a:solidFill>
              <a:srgbClr val="E2F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1911095"/>
            <a:ext cx="431596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5803D"/>
                </a:solidFill>
                <a:latin typeface="Aptos"/>
              </a:rPr>
              <a:t>Implemented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23160"/>
            <a:ext cx="4297680" cy="31729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475569"/>
                </a:solidFill>
                <a:latin typeface="Aptos"/>
              </a:rPr>
              <a:t>A shared decision/evaluation language
Generic solvers reused across domains
Native exact and gradient capabilities preserved
Common fidelity and validation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5664" y="1664208"/>
            <a:ext cx="4919472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1664208"/>
            <a:ext cx="73152" cy="4133087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11696" y="1865376"/>
            <a:ext cx="4407408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7416" y="1911095"/>
            <a:ext cx="431596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A16207"/>
                </a:solidFill>
                <a:latin typeface="Aptos"/>
              </a:rPr>
              <a:t>Not implemented yet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2423160"/>
            <a:ext cx="4297680" cy="31729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475569"/>
                </a:solidFill>
                <a:latin typeface="Aptos"/>
              </a:rPr>
              <a:t>One end-to-end hybrid optimiser
MILP configuration -&gt; DES under uncertainty -&gt; feedback -&gt; new configuration
A unified sequential policy runner
Exact solve exposed as a common solver plugin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5925312"/>
            <a:ext cx="8449056" cy="34747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39" y="5971032"/>
            <a:ext cx="835761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Aptos"/>
              </a:rPr>
              <a:t>The current architecture is the prerequisite for hybrid optimisation - not the hybrid algorithm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EVIDENCE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The implementation was tested from four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664208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83" y="1947672"/>
            <a:ext cx="658368" cy="658368"/>
          </a:xfrm>
          <a:prstGeom prst="roundRect">
            <a:avLst/>
          </a:prstGeom>
          <a:solidFill>
            <a:srgbClr val="E8F0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210312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1892808"/>
            <a:ext cx="36393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11827"/>
                </a:solidFill>
                <a:latin typeface="Aptos"/>
              </a:rPr>
              <a:t>Correctness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377440"/>
            <a:ext cx="363931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Autograd vs finite differences vs theory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7376" y="1664208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65976" y="1947672"/>
            <a:ext cx="658368" cy="658368"/>
          </a:xfrm>
          <a:prstGeom prst="roundRect">
            <a:avLst/>
          </a:prstGeom>
          <a:solidFill>
            <a:srgbClr val="DDF7F2"/>
          </a:solidFill>
          <a:ln w="1651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5976" y="210312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1892808"/>
            <a:ext cx="36393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11827"/>
                </a:solidFill>
                <a:latin typeface="Aptos"/>
              </a:rPr>
              <a:t>Fidelity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2377440"/>
            <a:ext cx="363931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Tensor DES vs SimPy on the same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813048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4983" y="4096511"/>
            <a:ext cx="658368" cy="658368"/>
          </a:xfrm>
          <a:prstGeom prst="roundRect">
            <a:avLst/>
          </a:prstGeom>
          <a:solidFill>
            <a:srgbClr val="FFF0E5"/>
          </a:solidFill>
          <a:ln w="1651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3" y="425196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A580C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4041648"/>
            <a:ext cx="36393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11827"/>
                </a:solidFill>
                <a:latin typeface="Aptos"/>
              </a:rPr>
              <a:t>Cross-validation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4526280"/>
            <a:ext cx="363931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HiGHS vs Pyomo algebra vs NumPy evaluator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37376" y="3813048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65976" y="4096511"/>
            <a:ext cx="658368" cy="658368"/>
          </a:xfrm>
          <a:prstGeom prst="roundRect">
            <a:avLst/>
          </a:prstGeom>
          <a:solidFill>
            <a:srgbClr val="F4E8FF"/>
          </a:solidFill>
          <a:ln w="1651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5976" y="4251960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7E22CE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4041648"/>
            <a:ext cx="36393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11827"/>
                </a:solidFill>
                <a:latin typeface="Aptos"/>
              </a:rPr>
              <a:t>Usefulness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4526280"/>
            <a:ext cx="363931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Can generic and gradient solvers improve decisions?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5907024"/>
            <a:ext cx="903427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11827"/>
                </a:solidFill>
                <a:latin typeface="Aptos"/>
              </a:rPr>
              <a:t>The architecture claim is supported only if the numbers remain trustworthy.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RE-RUN ON 30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Current-code check: the shared foundation is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27632"/>
            <a:ext cx="23957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792224"/>
            <a:ext cx="20665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15803D"/>
                </a:solidFill>
                <a:latin typeface="Aptos"/>
              </a:rPr>
              <a:t>221 / 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95144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75569"/>
                </a:solidFill>
                <a:latin typeface="Aptos"/>
              </a:rPr>
              <a:t>tests 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651760"/>
            <a:ext cx="1993392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7872" y="1627632"/>
            <a:ext cx="23957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3" y="1792224"/>
            <a:ext cx="20665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563EB"/>
                </a:solidFill>
                <a:latin typeface="Aptos"/>
              </a:rPr>
              <a:t>1.16e-10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295144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75569"/>
                </a:solidFill>
                <a:latin typeface="Aptos"/>
              </a:rPr>
              <a:t>max MILP cross-check 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651760"/>
            <a:ext cx="199339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91072" y="1627632"/>
            <a:ext cx="23957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792224"/>
            <a:ext cx="20665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0F766E"/>
                </a:solidFill>
                <a:latin typeface="Aptos"/>
              </a:rPr>
              <a:t>2 domains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295144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75569"/>
                </a:solidFill>
                <a:latin typeface="Aptos"/>
              </a:rPr>
              <a:t>one generic hill climber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651760"/>
            <a:ext cx="1993392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34272" y="1627632"/>
            <a:ext cx="23957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1792224"/>
            <a:ext cx="20665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EA580C"/>
                </a:solidFill>
                <a:latin typeface="Aptos"/>
              </a:rPr>
              <a:t>0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295144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75569"/>
                </a:solidFill>
                <a:latin typeface="Aptos"/>
              </a:rPr>
              <a:t>static vs MILP on 10 decisions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651760"/>
            <a:ext cx="1993392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3246120"/>
            <a:ext cx="34564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" y="324612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60704" y="3447288"/>
            <a:ext cx="2944368" cy="347472"/>
          </a:xfrm>
          <a:prstGeom prst="roundRect">
            <a:avLst/>
          </a:prstGeom>
          <a:solidFill>
            <a:srgbClr val="DDF7F2"/>
          </a:solidFill>
          <a:ln w="12700">
            <a:solidFill>
              <a:srgbClr val="DD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3493008"/>
            <a:ext cx="2852927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  <a:latin typeface="Aptos"/>
              </a:rPr>
              <a:t>Dispatch - 400 evaluations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005072"/>
            <a:ext cx="2834639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475569"/>
                </a:solidFill>
                <a:latin typeface="Aptos"/>
              </a:rPr>
              <a:t>1200.997  -&gt;  937.340
Generic solver; no DES-specific search logic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3246120"/>
            <a:ext cx="34564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324612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26864" y="3447288"/>
            <a:ext cx="2944368" cy="34747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2584" y="3493008"/>
            <a:ext cx="2852927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Aptos"/>
              </a:rPr>
              <a:t>Logistics - 400 evaluations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005072"/>
            <a:ext cx="2834639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475569"/>
                </a:solidFill>
                <a:latin typeface="Aptos"/>
              </a:rPr>
              <a:t>1,800,062  -&gt;  1,300,061
Same solver; different decision space and kernel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36992" y="3246120"/>
            <a:ext cx="34564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36992" y="3246120"/>
            <a:ext cx="73152" cy="192024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93023" y="3447288"/>
            <a:ext cx="2944368" cy="347472"/>
          </a:xfrm>
          <a:prstGeom prst="roundRect">
            <a:avLst/>
          </a:prstGeom>
          <a:solidFill>
            <a:srgbClr val="F4E8FF"/>
          </a:solidFill>
          <a:ln w="12700">
            <a:solidFill>
              <a:srgbClr val="F4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8744" y="3493008"/>
            <a:ext cx="2852927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E22CE"/>
                </a:solidFill>
                <a:latin typeface="Aptos"/>
              </a:rPr>
              <a:t>Capability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4005072"/>
            <a:ext cx="2834639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475569"/>
                </a:solidFill>
                <a:latin typeface="Aptos"/>
              </a:rPr>
              <a:t>Gradient works on C2a dispatch.
It is explicitly refused on a C0-only world.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72384" y="5650992"/>
            <a:ext cx="6053328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18103" y="5696712"/>
            <a:ext cx="596188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16207"/>
                </a:solidFill>
                <a:latin typeface="Aptos"/>
              </a:rPr>
              <a:t>Interoperability demonstrated; optimiser equivalence is not claimed.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RESEARCH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The experiments show value - and where it stops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64792"/>
            <a:ext cx="1773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0F766E"/>
                </a:solidFill>
                <a:latin typeface="Aptos"/>
              </a:rPr>
              <a:t>-56%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67712"/>
            <a:ext cx="181051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75569"/>
                </a:solidFill>
                <a:latin typeface="Aptos"/>
              </a:rPr>
              <a:t>battery-line makespan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624328"/>
            <a:ext cx="1700784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764792"/>
            <a:ext cx="1773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7E22CE"/>
                </a:solidFill>
                <a:latin typeface="Aptos"/>
              </a:rPr>
              <a:t>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267712"/>
            <a:ext cx="181051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75569"/>
                </a:solidFill>
                <a:latin typeface="Aptos"/>
              </a:rPr>
              <a:t>LLM policy gap to discrete optimum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7248" y="2624328"/>
            <a:ext cx="1700784" cy="36576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60020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1" y="1764792"/>
            <a:ext cx="1773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563EB"/>
                </a:solidFill>
                <a:latin typeface="Aptos"/>
              </a:rPr>
              <a:t>10-20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267712"/>
            <a:ext cx="181051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75569"/>
                </a:solidFill>
                <a:latin typeface="Aptos"/>
              </a:rPr>
              <a:t>gradient evaluations to reach ~38.4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21807" y="2624328"/>
            <a:ext cx="170078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160020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1764792"/>
            <a:ext cx="1773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15803D"/>
                </a:solidFill>
                <a:latin typeface="Aptos"/>
              </a:rPr>
              <a:t>14.04%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2267712"/>
            <a:ext cx="181051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75569"/>
                </a:solidFill>
                <a:latin typeface="Aptos"/>
              </a:rPr>
              <a:t>slow-scale lookahead cost reduction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16368" y="2624328"/>
            <a:ext cx="1700784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09760" y="160020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1764792"/>
            <a:ext cx="1773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EA580C"/>
                </a:solidFill>
                <a:latin typeface="Aptos"/>
              </a:rPr>
              <a:t>83x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6064" y="2267712"/>
            <a:ext cx="181051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75569"/>
                </a:solidFill>
                <a:latin typeface="Aptos"/>
              </a:rPr>
              <a:t>heuristic speed advantage on one benchmark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10928" y="2624328"/>
            <a:ext cx="1700784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3154680"/>
            <a:ext cx="510235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3154680"/>
            <a:ext cx="73152" cy="21396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78992" y="3355848"/>
            <a:ext cx="4590288" cy="34747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" y="3401568"/>
            <a:ext cx="449884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Aptos"/>
              </a:rPr>
              <a:t>Gradient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" y="3913632"/>
            <a:ext cx="4480560" cy="11795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475569"/>
                </a:solidFill>
                <a:latin typeface="Aptos"/>
              </a:rPr>
              <a:t>On the sizing-policy world, gradient search reaches in 10-20 evaluations what random, hill climb and Bayes do not reach in 200.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4" y="3154680"/>
            <a:ext cx="510235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72784" y="3154680"/>
            <a:ext cx="73152" cy="21396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28816" y="3355848"/>
            <a:ext cx="4590288" cy="347472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FF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3401568"/>
            <a:ext cx="449884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580C"/>
                </a:solidFill>
                <a:latin typeface="Aptos"/>
              </a:rPr>
              <a:t>Scale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913632"/>
            <a:ext cx="4480560" cy="11795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475569"/>
                </a:solidFill>
                <a:latin typeface="Aptos"/>
              </a:rPr>
              <a:t>The constructive supply heuristic builds a 160-item plan where the exact model would contain about 180,000 integer variables.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93392" y="5742432"/>
            <a:ext cx="824788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75569"/>
                </a:solidFill>
                <a:latin typeface="Aptos"/>
              </a:rPr>
              <a:t>These are problem-specific results, not a universal ranking of algorithms.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WHAT THE EVIDENCE PREVENTS US FROM CLAIMING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Negative results define the safe operating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3419856" cy="3493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627632"/>
            <a:ext cx="73152" cy="3493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1828800"/>
            <a:ext cx="2907792" cy="347472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D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Aptos"/>
              </a:rPr>
              <a:t>Static models can mislead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386584"/>
            <a:ext cx="2798064" cy="2532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475569"/>
                </a:solidFill>
                <a:latin typeface="Aptos"/>
              </a:rPr>
              <a:t>One over-conservative constraint marks 4-8 of 10 candidates falsely infeasible; observed regret reaches 116.7%.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27632"/>
            <a:ext cx="3419856" cy="3493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73152" cy="3493008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45152" y="1828800"/>
            <a:ext cx="2907792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874519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A16207"/>
                </a:solidFill>
                <a:latin typeface="Aptos"/>
              </a:rPr>
              <a:t>Gradients can mislead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386584"/>
            <a:ext cx="2798064" cy="2532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475569"/>
                </a:solidFill>
                <a:latin typeface="Aptos"/>
              </a:rPr>
              <a:t>As relaxations sharpen, gradients may vanish, explode, or point nowhere. Each structure needs its own health check.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627632"/>
            <a:ext cx="3419856" cy="3493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1627632"/>
            <a:ext cx="73152" cy="3493008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84463" y="1828800"/>
            <a:ext cx="2907792" cy="347472"/>
          </a:xfrm>
          <a:prstGeom prst="roundRect">
            <a:avLst/>
          </a:prstGeom>
          <a:solidFill>
            <a:srgbClr val="F4E8FF"/>
          </a:solidFill>
          <a:ln w="12700">
            <a:solidFill>
              <a:srgbClr val="F4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0183" y="1874519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E22CE"/>
                </a:solidFill>
                <a:latin typeface="Aptos"/>
              </a:rPr>
              <a:t>Heuristics can 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386584"/>
            <a:ext cx="2798064" cy="2532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475569"/>
                </a:solidFill>
                <a:latin typeface="Aptos"/>
              </a:rPr>
              <a:t>On a 10-item x 3-resource case, the heuristic is still 10.79% worse than the 300-second MILP incumbent.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98448" y="5605272"/>
            <a:ext cx="9601200" cy="34747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4168" y="5650992"/>
            <a:ext cx="95097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Aptos"/>
              </a:rPr>
              <a:t>The framework helps compare models and solvers; it does not make every model faithful or every solver optimal.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Aptos"/>
              </a:rPr>
              <a:t>IMPLEMENTATION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5613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Aptos"/>
              </a:rPr>
              <a:t>Verdict: a sound research foundation, not yet a finished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669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457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840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OPSWORLD - CONCEPT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7664" y="651052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3675887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572768"/>
            <a:ext cx="73152" cy="41879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1773936"/>
            <a:ext cx="3163823" cy="347472"/>
          </a:xfrm>
          <a:prstGeom prst="roundRect">
            <a:avLst/>
          </a:prstGeom>
          <a:solidFill>
            <a:srgbClr val="E2F7E7"/>
          </a:solidFill>
          <a:ln w="12700">
            <a:solidFill>
              <a:srgbClr val="E2F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19656"/>
            <a:ext cx="3072383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5803D"/>
                </a:solidFill>
                <a:latin typeface="Aptos"/>
              </a:rPr>
              <a:t>Sound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331720"/>
            <a:ext cx="3054095" cy="3227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475569"/>
                </a:solidFill>
                <a:latin typeface="Aptos"/>
              </a:rPr>
              <a:t>Clear separation in executable code
Thin shared layer; domain logic stays local
Native DES and MILP strengths preserved
Cross-domain solver reuse demonstrated
221 tests currently green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9432" y="1572768"/>
            <a:ext cx="3675887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9432" y="1572768"/>
            <a:ext cx="73152" cy="4187952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55464" y="1773936"/>
            <a:ext cx="3163823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01184" y="1819656"/>
            <a:ext cx="3072383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A16207"/>
                </a:solidFill>
                <a:latin typeface="Aptos"/>
              </a:rPr>
              <a:t>Complete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2331720"/>
            <a:ext cx="3054095" cy="3227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475569"/>
                </a:solidFill>
                <a:latin typeface="Aptos"/>
              </a:rPr>
              <a:t>Declare vector decision-space requirements for Bayes
Expose C3 exact solve as a common solver plugin
Connect the C1 sequential world to the main API
Run a true MILP -&gt; DES -&gt; feedback hybrid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572768"/>
            <a:ext cx="2944368" cy="41879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1874519"/>
            <a:ext cx="23591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3C5FD"/>
                </a:solidFill>
                <a:latin typeface="Aptos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487168"/>
            <a:ext cx="2359152" cy="21762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Aptos"/>
              </a:rPr>
              <a:t>Keep the
world model
as the shared asset.
Let solvers remain
replaceable plugins.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925312"/>
            <a:ext cx="80650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Aptos"/>
              </a:rPr>
              <a:t>Implementation details and full experiment table:
opsworld-architecture-and-experiments.zh.md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