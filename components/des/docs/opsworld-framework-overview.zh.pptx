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26679" y="-365760"/>
            <a:ext cx="4846320" cy="7589520"/>
          </a:xfrm>
          <a:prstGeom prst="rect">
            <a:avLst/>
          </a:prstGeom>
          <a:solidFill>
            <a:srgbClr val="0B1E2B"/>
          </a:solidFill>
          <a:ln w="12700">
            <a:solidFill>
              <a:srgbClr val="0B1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21040" y="914400"/>
            <a:ext cx="3337560" cy="658368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49640" y="1078992"/>
            <a:ext cx="2880360" cy="310896"/>
          </a:xfrm>
          <a:prstGeom prst="round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22792" y="1088136"/>
            <a:ext cx="273405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6111A"/>
                </a:solidFill>
                <a:latin typeface="Microsoft YaHei"/>
              </a:rPr>
              <a:t>C0 · 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874519"/>
            <a:ext cx="2606040" cy="658368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49640" y="2039112"/>
            <a:ext cx="2148840" cy="310896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22792" y="2048255"/>
            <a:ext cx="200253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6111A"/>
                </a:solidFill>
                <a:latin typeface="Microsoft YaHei"/>
              </a:rPr>
              <a:t>C1 · 时序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2834640"/>
            <a:ext cx="2971800" cy="658368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49640" y="2999232"/>
            <a:ext cx="2514600" cy="310896"/>
          </a:xfrm>
          <a:prstGeom prst="round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22792" y="3008376"/>
            <a:ext cx="236829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6111A"/>
                </a:solidFill>
                <a:latin typeface="Microsoft YaHei"/>
              </a:rPr>
              <a:t>C2 · 灵敏度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3794760"/>
            <a:ext cx="2148840" cy="658368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49640" y="3959352"/>
            <a:ext cx="1691640" cy="310896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22792" y="3968496"/>
            <a:ext cx="154533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6111A"/>
                </a:solidFill>
                <a:latin typeface="Microsoft YaHei"/>
              </a:rPr>
              <a:t>C3 · 代数结构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640080"/>
            <a:ext cx="420624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DD4BF"/>
                </a:solidFill>
                <a:latin typeface="Microsoft YaHei"/>
              </a:rPr>
              <a:t>OPSWORLD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1298448"/>
            <a:ext cx="65836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8FAFC"/>
                </a:solidFill>
                <a:latin typeface="Microsoft YaHei"/>
              </a:rPr>
              <a:t>统一决策世界模型框架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176272"/>
            <a:ext cx="64922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AFC2D4"/>
                </a:solidFill>
                <a:latin typeface="Microsoft YaHei"/>
              </a:rPr>
              <a:t>一个建模基础设施 · 两个 use case · 多类求解器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154680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B923C"/>
                </a:solidFill>
                <a:latin typeface="Microsoft YaHei"/>
              </a:rPr>
              <a:t>核心观点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575304"/>
            <a:ext cx="621792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E5EEF5"/>
                </a:solidFill>
                <a:latin typeface="Microsoft YaHei"/>
              </a:rPr>
              <a:t>先统一“决策如何被评价”，再按需附加梯度、对偶、MILP 与序贯能力。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6071616"/>
            <a:ext cx="6217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315064"/>
                </a:solidFill>
                <a:latin typeface="Microsoft YaHei"/>
              </a:rPr>
              <a:t>基于 docs、PLAN.md 与当前代码实现 · 2026-08-30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5303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DD4BF"/>
                </a:solidFill>
                <a:latin typeface="Microsoft YaHe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6984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5EEF5"/>
                </a:solidFill>
                <a:latin typeface="Microsoft YaHei"/>
              </a:rPr>
              <a:t>先把结论说清楚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2728"/>
            <a:ext cx="658368" cy="4114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384048"/>
            <a:ext cx="3840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AFC2D4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9672"/>
            <a:ext cx="4937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OPSWORLD · 统一决策世界模型框架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519672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3456432" cy="1828800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7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64008" cy="18288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37360"/>
            <a:ext cx="3108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8FAFC"/>
                </a:solidFill>
                <a:latin typeface="Microsoft YaHei"/>
              </a:rPr>
              <a:t>共同基底已经存在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76272"/>
            <a:ext cx="3108960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AFC2D4"/>
                </a:solidFill>
                <a:latin typeface="Microsoft YaHei"/>
              </a:rPr>
              <a:t>`opsworld` 统一了 World、DecisionSpace、Evaluation 和 Solver 的最小契约。两个领域都能通过 C0 接入。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572768"/>
            <a:ext cx="3456432" cy="1828800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7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572768"/>
            <a:ext cx="64008" cy="1828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737360"/>
            <a:ext cx="3108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8FAFC"/>
                </a:solidFill>
                <a:latin typeface="Microsoft YaHei"/>
              </a:rPr>
              <a:t>可微不是入场券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76272"/>
            <a:ext cx="3108960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AFC2D4"/>
                </a:solidFill>
                <a:latin typeface="Microsoft YaHei"/>
              </a:rPr>
              <a:t>C2a 只是可选能力。StaticWorld、PlanWorld 都只有 C0，照样可以被随机搜索、爬山和领域启发式驱动。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572768"/>
            <a:ext cx="3456432" cy="1828800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7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572768"/>
            <a:ext cx="64008" cy="18288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1737360"/>
            <a:ext cx="3108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8FAFC"/>
                </a:solidFill>
                <a:latin typeface="Microsoft YaHei"/>
              </a:rPr>
              <a:t>互通尚未完全闭环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176272"/>
            <a:ext cx="3108960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AFC2D4"/>
                </a:solidFill>
                <a:latin typeface="Microsoft YaHei"/>
              </a:rPr>
              <a:t>通用评价和部分通用求解已经打通；精确 MILP、C1 求解器和决策空间类型约束还没有完整插件化。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10881360" cy="1591056"/>
          </a:xfrm>
          <a:prstGeom prst="roundRect">
            <a:avLst/>
          </a:prstGeom>
          <a:solidFill>
            <a:srgbClr val="0B1E2B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142232"/>
            <a:ext cx="10287000" cy="74980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2DD4BF"/>
                </a:solidFill>
                <a:latin typeface="Microsoft YaHei"/>
              </a:rPr>
              <a:t>一句话：</a:t>
            </a:r>
            <a:r>
              <a:rPr sz="2100" b="1">
                <a:solidFill>
                  <a:srgbClr val="F8FAFC"/>
                </a:solidFill>
                <a:latin typeface="Microsoft YaHei"/>
              </a:rPr>
              <a:t>opsworld 是“统一插座”，不是第三个领域模型；它让不同模型先以功能性的 C0 方式共存，再逐步开放高级能力。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5303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DD4BF"/>
                </a:solidFill>
                <a:latin typeface="Microsoft YaHei"/>
              </a:rPr>
              <a:t>THE ORIGINAL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6984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5EEF5"/>
                </a:solidFill>
                <a:latin typeface="Microsoft YaHei"/>
              </a:rPr>
              <a:t>为什么需要共同的建模基础设施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2728"/>
            <a:ext cx="658368" cy="4114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384048"/>
            <a:ext cx="3840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AFC2D4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9672"/>
            <a:ext cx="4937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OPSWORLD · 统一决策世界模型框架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519672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828800"/>
            <a:ext cx="2926080" cy="2240280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947672"/>
            <a:ext cx="2651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38BDF8"/>
                </a:solidFill>
                <a:latin typeface="Microsoft YaHei"/>
              </a:rPr>
              <a:t>GradientShop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13432"/>
            <a:ext cx="2651760" cy="16642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5EEF5"/>
                </a:solidFill>
                <a:latin typeface="Microsoft YaHei"/>
              </a:rPr>
              <a:t>DDES · 派工规则权重
PyTorch · SimPy 参考引擎
关心通路梯度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828800"/>
            <a:ext cx="2926080" cy="2240280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947672"/>
            <a:ext cx="2651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B923C"/>
                </a:solidFill>
                <a:latin typeface="Microsoft YaHei"/>
              </a:rPr>
              <a:t>Intralogistics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313432"/>
            <a:ext cx="2651760" cy="16642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5EEF5"/>
                </a:solidFill>
                <a:latin typeface="Microsoft YaHei"/>
              </a:rPr>
              <a:t>MILP · 仓储与移库配置
Pyomo · HiGHS / Gurobi
关心约束与最优性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90872" y="1581912"/>
            <a:ext cx="2788920" cy="2743200"/>
          </a:xfrm>
          <a:prstGeom prst="roundRect">
            <a:avLst/>
          </a:prstGeom>
          <a:solidFill>
            <a:srgbClr val="17384B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1874519"/>
            <a:ext cx="21945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2DD4BF"/>
                </a:solidFill>
                <a:latin typeface="Microsoft YaHei"/>
              </a:rPr>
              <a:t>opsworld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2450592"/>
            <a:ext cx="21945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8FAFC"/>
                </a:solidFill>
                <a:latin typeface="Microsoft YaHei"/>
              </a:rPr>
              <a:t>共同语言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2907792"/>
            <a:ext cx="169164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AFC2D4"/>
                </a:solidFill>
                <a:latin typeface="Microsoft YaHei"/>
              </a:rPr>
              <a:t>Decision
Evaluation
Capability
Solver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76472" y="2926080"/>
            <a:ext cx="914400" cy="0"/>
          </a:xfrm>
          <a:prstGeom prst="line">
            <a:avLst/>
          </a:prstGeom>
          <a:ln w="3175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79792" y="2926080"/>
            <a:ext cx="914400" cy="0"/>
          </a:xfrm>
          <a:prstGeom prst="line">
            <a:avLst/>
          </a:prstGeom>
          <a:ln w="3175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34440" y="4754880"/>
            <a:ext cx="97383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E5EEF5"/>
                </a:solidFill>
                <a:latin typeface="Microsoft YaHei"/>
              </a:rPr>
              <a:t>目标不是消除领域差异，而是让模型、求解器和验证工具在差异之上复用。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41648" y="5513832"/>
            <a:ext cx="4114800" cy="310896"/>
          </a:xfrm>
          <a:prstGeom prst="round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5522976"/>
            <a:ext cx="396849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6111A"/>
                </a:solidFill>
                <a:latin typeface="Microsoft YaHei"/>
              </a:rPr>
              <a:t>域 → 基底；基底不反向 import 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5303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DD4BF"/>
                </a:solidFill>
                <a:latin typeface="Microsoft YaHei"/>
              </a:rPr>
              <a:t>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6984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5EEF5"/>
                </a:solidFill>
                <a:latin typeface="Microsoft YaHei"/>
              </a:rPr>
              <a:t>通俗地看：裁判、赛场与参赛者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2728"/>
            <a:ext cx="658368" cy="4114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384048"/>
            <a:ext cx="3840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AFC2D4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9672"/>
            <a:ext cx="4937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OPSWORLD · 统一决策世界模型框架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519672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64208"/>
            <a:ext cx="2514600" cy="3127248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9264" y="1874519"/>
            <a:ext cx="2075688" cy="310896"/>
          </a:xfrm>
          <a:prstGeom prst="round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1883663"/>
            <a:ext cx="1929384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6111A"/>
                </a:solidFill>
                <a:latin typeface="Microsoft YaHei"/>
              </a:rPr>
              <a:t>World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487168"/>
            <a:ext cx="207568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F8FAFC"/>
                </a:solidFill>
                <a:latin typeface="Microsoft YaHei"/>
              </a:rPr>
              <a:t>裁判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82112"/>
            <a:ext cx="2002536" cy="10789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AFC2D4"/>
                </a:solidFill>
                <a:latin typeface="Microsoft YaHei"/>
              </a:rPr>
              <a:t>给定一个方案，返回成本、KPI、约束违反量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664208"/>
            <a:ext cx="2514600" cy="3127248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85615" y="1874519"/>
            <a:ext cx="2075688" cy="310896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1883663"/>
            <a:ext cx="1929384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6111A"/>
                </a:solidFill>
                <a:latin typeface="Microsoft YaHei"/>
              </a:rPr>
              <a:t>DecisionSpace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5615" y="2487168"/>
            <a:ext cx="207568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F8FAFC"/>
                </a:solidFill>
                <a:latin typeface="Microsoft YaHei"/>
              </a:rPr>
              <a:t>赛场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191" y="3182112"/>
            <a:ext cx="2002536" cy="10789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AFC2D4"/>
                </a:solidFill>
                <a:latin typeface="Microsoft YaHei"/>
              </a:rPr>
              <a:t>定义方案长什么样，以及怎样产生起点和邻居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2512" y="1664208"/>
            <a:ext cx="2514600" cy="3127248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01968" y="1874519"/>
            <a:ext cx="2075688" cy="310896"/>
          </a:xfrm>
          <a:prstGeom prst="round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883663"/>
            <a:ext cx="1929384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6111A"/>
                </a:solidFill>
                <a:latin typeface="Microsoft YaHei"/>
              </a:rPr>
              <a:t>Solver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2487168"/>
            <a:ext cx="207568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F8FAFC"/>
                </a:solidFill>
                <a:latin typeface="Microsoft YaHei"/>
              </a:rPr>
              <a:t>参赛者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544" y="3182112"/>
            <a:ext cx="2002536" cy="10789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AFC2D4"/>
                </a:solidFill>
                <a:latin typeface="Microsoft YaHei"/>
              </a:rPr>
              <a:t>反复提出候选方案，利用允许的信息寻找更优解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98864" y="1664208"/>
            <a:ext cx="2514600" cy="3127248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18320" y="1874519"/>
            <a:ext cx="2075688" cy="310896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91472" y="1883663"/>
            <a:ext cx="1929384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6111A"/>
                </a:solidFill>
                <a:latin typeface="Microsoft YaHei"/>
              </a:rPr>
              <a:t>Capability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487168"/>
            <a:ext cx="207568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F8FAFC"/>
                </a:solidFill>
                <a:latin typeface="Microsoft YaHei"/>
              </a:rPr>
              <a:t>接口标签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54896" y="3182112"/>
            <a:ext cx="2002536" cy="10789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AFC2D4"/>
                </a:solidFill>
                <a:latin typeface="Microsoft YaHei"/>
              </a:rPr>
              <a:t>声明裁判还能给梯度、影子价格、时序或代数结构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303520"/>
            <a:ext cx="102870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E5EEF5"/>
                </a:solidFill>
                <a:latin typeface="Microsoft YaHei"/>
              </a:rPr>
              <a:t>“互通”首先意味着：不同裁判使用同一张记分表，不同参赛者遵守同一套提案规则。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5303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DD4BF"/>
                </a:solidFill>
                <a:latin typeface="Microsoft YaHei"/>
              </a:rPr>
              <a:t>CORE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6984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5EEF5"/>
                </a:solidFill>
                <a:latin typeface="Microsoft YaHei"/>
              </a:rPr>
              <a:t>真正承重的最小契约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2728"/>
            <a:ext cx="658368" cy="4114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384048"/>
            <a:ext cx="3840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AFC2D4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9672"/>
            <a:ext cx="4937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OPSWORLD · 统一决策世界模型框架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519672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00200"/>
            <a:ext cx="5413248" cy="1874519"/>
          </a:xfrm>
          <a:prstGeom prst="roundRect">
            <a:avLst/>
          </a:prstGeom>
          <a:solidFill>
            <a:srgbClr val="06131E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00200"/>
            <a:ext cx="54864" cy="1874519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46504"/>
            <a:ext cx="5065776" cy="16184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E5EEF5"/>
                </a:solidFill>
                <a:latin typeface="Consolas"/>
              </a:rPr>
              <a:t>class WorldModel:
    capabilities() -&gt; set[Capability]
    decision_space() -&gt; DecisionSpace
    evaluate(decision) -&gt; Evaluation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600200"/>
            <a:ext cx="5230368" cy="1874519"/>
          </a:xfrm>
          <a:prstGeom prst="roundRect">
            <a:avLst/>
          </a:prstGeom>
          <a:solidFill>
            <a:srgbClr val="06131E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91072" y="1600200"/>
            <a:ext cx="54864" cy="1874519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46504"/>
            <a:ext cx="4882896" cy="16184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E5EEF5"/>
                </a:solidFill>
                <a:latin typeface="Consolas"/>
              </a:rPr>
              <a:t>class DecisionSpace:
    initial() -&gt; decision
    perturb(decision, rng) -&gt; 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886200"/>
            <a:ext cx="10863072" cy="1463040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96512"/>
            <a:ext cx="1028700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FB923C"/>
                </a:solidFill>
                <a:latin typeface="Microsoft YaHei"/>
              </a:rPr>
              <a:t>Evaluation</a:t>
            </a:r>
            <a:r>
              <a:rPr sz="1900" b="1">
                <a:solidFill>
                  <a:srgbClr val="F8FAFC"/>
                </a:solidFill>
                <a:latin typeface="Microsoft YaHei"/>
              </a:rPr>
              <a:t>(objective, kpis, violations, sensitivity?, provenance)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626864"/>
            <a:ext cx="1010412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AFC2D4"/>
                </a:solidFill>
                <a:latin typeface="Microsoft YaHei"/>
              </a:rPr>
              <a:t>violations 使用“违反量”而不是布尔值 → objective + penalty × violation → 约束问题与无约束问题可被同一求解器比较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07992" y="5650992"/>
            <a:ext cx="3200400" cy="310896"/>
          </a:xfrm>
          <a:prstGeom prst="round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1144" y="5660136"/>
            <a:ext cx="305409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6111A"/>
                </a:solidFill>
                <a:latin typeface="Microsoft YaHei"/>
              </a:rPr>
              <a:t>Protocol，而非继承体系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5303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DD4BF"/>
                </a:solidFill>
                <a:latin typeface="Microsoft YaHei"/>
              </a:rPr>
              <a:t>CAPABILITY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6984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5EEF5"/>
                </a:solidFill>
                <a:latin typeface="Microsoft YaHei"/>
              </a:rPr>
              <a:t>C0 是地基，C1–C3 是可选扩展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2728"/>
            <a:ext cx="658368" cy="4114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384048"/>
            <a:ext cx="3840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AFC2D4"/>
                </a:solidFill>
                <a:latin typeface="Microsoft Ya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9672"/>
            <a:ext cx="4937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OPSWORLD · 统一决策世界模型框架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519672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45920"/>
            <a:ext cx="1965960" cy="3246120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847088"/>
            <a:ext cx="1691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2DD4BF"/>
                </a:solidFill>
                <a:latin typeface="Microsoft YaHei"/>
              </a:rPr>
              <a:t>C0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487168"/>
            <a:ext cx="16916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8FAFC"/>
                </a:solidFill>
                <a:latin typeface="Microsoft YaHei"/>
              </a:rPr>
              <a:t>评估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072384"/>
            <a:ext cx="16916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E5EEF5"/>
                </a:solidFill>
                <a:latin typeface="Consolas"/>
              </a:rPr>
              <a:t>evaluate(d)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858768"/>
            <a:ext cx="1636776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AFC2D4"/>
                </a:solidFill>
                <a:latin typeface="Microsoft YaHei"/>
              </a:rPr>
              <a:t>所有模型必须有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71215" y="1645920"/>
            <a:ext cx="1965960" cy="3246120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08375" y="1847088"/>
            <a:ext cx="1691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38BDF8"/>
                </a:solidFill>
                <a:latin typeface="Microsoft YaHei"/>
              </a:rPr>
              <a:t>C1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5" y="2487168"/>
            <a:ext cx="16916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8FAFC"/>
                </a:solidFill>
                <a:latin typeface="Microsoft YaHei"/>
              </a:rPr>
              <a:t>时序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5" y="3072384"/>
            <a:ext cx="16916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E5EEF5"/>
                </a:solidFill>
                <a:latin typeface="Consolas"/>
              </a:rPr>
              <a:t>reset /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3858768"/>
            <a:ext cx="1636776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AFC2D4"/>
                </a:solidFill>
                <a:latin typeface="Microsoft YaHei"/>
              </a:rPr>
              <a:t>RL · MPC · 在线策略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645920"/>
            <a:ext cx="1965960" cy="3246120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1224" y="1847088"/>
            <a:ext cx="1691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4ADE80"/>
                </a:solidFill>
                <a:latin typeface="Microsoft YaHei"/>
              </a:rPr>
              <a:t>C2a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2487168"/>
            <a:ext cx="16916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8FAFC"/>
                </a:solidFill>
                <a:latin typeface="Microsoft YaHei"/>
              </a:rPr>
              <a:t>通路梯度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072384"/>
            <a:ext cx="16916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E5EEF5"/>
                </a:solidFill>
                <a:latin typeface="Consolas"/>
              </a:rPr>
              <a:t>∂J / ∂decision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655" y="3858768"/>
            <a:ext cx="1636776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AFC2D4"/>
                </a:solidFill>
                <a:latin typeface="Microsoft YaHei"/>
              </a:rPr>
              <a:t>梯度下降 · DDES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6912" y="1645920"/>
            <a:ext cx="1965960" cy="3246120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34071" y="1847088"/>
            <a:ext cx="1691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A78BFA"/>
                </a:solidFill>
                <a:latin typeface="Microsoft YaHei"/>
              </a:rPr>
              <a:t>C2b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4071" y="2487168"/>
            <a:ext cx="16916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8FAFC"/>
                </a:solidFill>
                <a:latin typeface="Microsoft YaHei"/>
              </a:rPr>
              <a:t>对偶变量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1" y="3072384"/>
            <a:ext cx="16916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E5EEF5"/>
                </a:solidFill>
                <a:latin typeface="Consolas"/>
              </a:rPr>
              <a:t>∂J / ∂RHS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3858768"/>
            <a:ext cx="1636776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AFC2D4"/>
                </a:solidFill>
                <a:latin typeface="Microsoft YaHei"/>
              </a:rPr>
              <a:t>资源瓶颈分析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1645920"/>
            <a:ext cx="1965960" cy="3246120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46920" y="1847088"/>
            <a:ext cx="1691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FB923C"/>
                </a:solidFill>
                <a:latin typeface="Microsoft YaHei"/>
              </a:rPr>
              <a:t>C3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2487168"/>
            <a:ext cx="16916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8FAFC"/>
                </a:solidFill>
                <a:latin typeface="Microsoft YaHei"/>
              </a:rPr>
              <a:t>代数结构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3072384"/>
            <a:ext cx="16916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E5EEF5"/>
                </a:solidFill>
                <a:latin typeface="Consolas"/>
              </a:rPr>
              <a:t>MILP 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74352" y="3858768"/>
            <a:ext cx="1636776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AFC2D4"/>
                </a:solidFill>
                <a:latin typeface="Microsoft YaHei"/>
              </a:rPr>
              <a:t>精确解 · 界 · 证明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349240"/>
            <a:ext cx="1033272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E5EEF5"/>
                </a:solidFill>
                <a:latin typeface="Microsoft YaHei"/>
              </a:rPr>
              <a:t>重要边界：影子价格属于约束空间，不是决策空间中的下降方向；代码会拒绝对 DUAL 调用 descent_direction()。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5303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DD4BF"/>
                </a:solidFill>
                <a:latin typeface="Microsoft YaHei"/>
              </a:rPr>
              <a:t>IMPLEMENTED WIRING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6984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5EEF5"/>
                </a:solidFill>
                <a:latin typeface="Microsoft YaHei"/>
              </a:rPr>
              <a:t>当前代码的真实接线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2728"/>
            <a:ext cx="658368" cy="4114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384048"/>
            <a:ext cx="3840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AFC2D4"/>
                </a:solidFill>
                <a:latin typeface="Microsoft Ya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9672"/>
            <a:ext cx="4937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OPSWORLD · 统一决策世界模型框架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519672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01952"/>
            <a:ext cx="1920240" cy="2971800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020824"/>
            <a:ext cx="1645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2DD4BF"/>
                </a:solidFill>
                <a:latin typeface="Microsoft YaHei"/>
              </a:rPr>
              <a:t>通用 Solver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386584"/>
            <a:ext cx="1645920" cy="2395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5EEF5"/>
                </a:solidFill>
                <a:latin typeface="Microsoft YaHei"/>
              </a:rPr>
              <a:t>random
hillclimb
bayes*
gradient
greedy-supply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72384" y="1901952"/>
            <a:ext cx="2011680" cy="2971800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9544" y="2020824"/>
            <a:ext cx="17373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38BDF8"/>
                </a:solidFill>
                <a:latin typeface="Microsoft YaHei"/>
              </a:rPr>
              <a:t>opsworld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9544" y="2386584"/>
            <a:ext cx="1737360" cy="2395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5EEF5"/>
                </a:solidFill>
                <a:latin typeface="Microsoft YaHei"/>
              </a:rPr>
              <a:t>Capability gate
penalised_objective
registry / HTTP
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59552" y="1508760"/>
            <a:ext cx="2331720" cy="1920240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627631"/>
            <a:ext cx="20574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4ADE80"/>
                </a:solidFill>
                <a:latin typeface="Microsoft YaHei"/>
              </a:rPr>
              <a:t>GradientShop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96712" y="1993391"/>
            <a:ext cx="2057400" cy="1344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5EEF5"/>
                </a:solidFill>
                <a:latin typeface="Microsoft YaHei"/>
              </a:rPr>
              <a:t>DispatchWorld
C0 + C2a
规则权重 → DDES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1508760"/>
            <a:ext cx="2971800" cy="1920240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1627631"/>
            <a:ext cx="2697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B923C"/>
                </a:solidFill>
                <a:latin typeface="Microsoft YaHei"/>
              </a:rPr>
              <a:t>Intralogistics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1993391"/>
            <a:ext cx="2697480" cy="1344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5EEF5"/>
                </a:solidFill>
                <a:latin typeface="Microsoft YaHei"/>
              </a:rPr>
              <a:t>PlanWorld · C0
StaticWorld · C0
MilpWorld · C0+C2b+C3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59552" y="3822191"/>
            <a:ext cx="5715000" cy="1371600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3941063"/>
            <a:ext cx="5440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A78BFA"/>
                </a:solidFill>
                <a:latin typeface="Microsoft YaHei"/>
              </a:rPr>
              <a:t>参考与验证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96712" y="4306824"/>
            <a:ext cx="5440680" cy="7955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5EEF5"/>
                </a:solidFill>
                <a:latin typeface="Microsoft YaHei"/>
              </a:rPr>
              <a:t>SimPy 轨迹对照
Pyomo / NumPy / B&amp;B 交叉验证
静态 vs 动态决策排序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78608" y="3383280"/>
            <a:ext cx="493776" cy="0"/>
          </a:xfrm>
          <a:prstGeom prst="line">
            <a:avLst/>
          </a:prstGeom>
          <a:ln w="2794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084064" y="2468880"/>
            <a:ext cx="475488" cy="365760"/>
          </a:xfrm>
          <a:prstGeom prst="line">
            <a:avLst/>
          </a:prstGeom>
          <a:ln w="279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084064" y="2468880"/>
            <a:ext cx="3218688" cy="1417320"/>
          </a:xfrm>
          <a:prstGeom prst="line">
            <a:avLst/>
          </a:prstGeom>
          <a:ln w="279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41248" y="5687568"/>
            <a:ext cx="103784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FB923C"/>
                </a:solidFill>
                <a:latin typeface="Microsoft YaHei"/>
              </a:rPr>
              <a:t>* 当前 BayesianOptimisationSolver 实际要求向量决策，但 registry 尚未声明这一决策空间要求。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5303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DD4BF"/>
                </a:solidFill>
                <a:latin typeface="Microsoft YaHei"/>
              </a:rPr>
              <a:t>DOMAIN A · DDES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6984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5EEF5"/>
                </a:solidFill>
                <a:latin typeface="Microsoft YaHei"/>
              </a:rPr>
              <a:t>Use case A：GradientShop 如何接入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2728"/>
            <a:ext cx="658368" cy="4114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384048"/>
            <a:ext cx="3840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AFC2D4"/>
                </a:solidFill>
                <a:latin typeface="Microsoft Ya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9672"/>
            <a:ext cx="4937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OPSWORLD · 统一决策世界模型框架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519672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47088"/>
            <a:ext cx="2240280" cy="1389888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1965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38BDF8"/>
                </a:solidFill>
                <a:latin typeface="Microsoft YaHei"/>
              </a:rPr>
              <a:t>1 · 决策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1965960" cy="8138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5EEF5"/>
                </a:solidFill>
                <a:latin typeface="Microsoft YaHei"/>
              </a:rPr>
              <a:t>派工规则权重 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26080" y="2542032"/>
            <a:ext cx="566928" cy="0"/>
          </a:xfrm>
          <a:prstGeom prst="line">
            <a:avLst/>
          </a:prstGeom>
          <a:ln w="25400">
            <a:solidFill>
              <a:srgbClr val="3150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20440" y="1847088"/>
            <a:ext cx="2240280" cy="1389888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965960"/>
            <a:ext cx="1965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2DD4BF"/>
                </a:solidFill>
                <a:latin typeface="Microsoft YaHei"/>
              </a:rPr>
              <a:t>2 · 适配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331720"/>
            <a:ext cx="1965960" cy="8138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5EEF5"/>
                </a:solidFill>
                <a:latin typeface="Microsoft YaHei"/>
              </a:rPr>
              <a:t>DispatchWorld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720" y="2542032"/>
            <a:ext cx="566928" cy="0"/>
          </a:xfrm>
          <a:prstGeom prst="line">
            <a:avLst/>
          </a:prstGeom>
          <a:ln w="25400">
            <a:solidFill>
              <a:srgbClr val="3150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55080" y="1847088"/>
            <a:ext cx="2240280" cy="1389888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965960"/>
            <a:ext cx="1965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4ADE80"/>
                </a:solidFill>
                <a:latin typeface="Microsoft YaHei"/>
              </a:rPr>
              <a:t>3 · 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331720"/>
            <a:ext cx="1965960" cy="8138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5EEF5"/>
                </a:solidFill>
                <a:latin typeface="Microsoft YaHei"/>
              </a:rPr>
              <a:t>DDES 张量递推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95360" y="2542032"/>
            <a:ext cx="566928" cy="0"/>
          </a:xfrm>
          <a:prstGeom prst="line">
            <a:avLst/>
          </a:prstGeom>
          <a:ln w="25400">
            <a:solidFill>
              <a:srgbClr val="3150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89720" y="1847088"/>
            <a:ext cx="2240280" cy="1389888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965960"/>
            <a:ext cx="1965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B923C"/>
                </a:solidFill>
                <a:latin typeface="Microsoft YaHei"/>
              </a:rPr>
              <a:t>4 · 返回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331720"/>
            <a:ext cx="1965960" cy="8138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5EEF5"/>
                </a:solidFill>
                <a:latin typeface="Microsoft YaHei"/>
              </a:rPr>
              <a:t>离散成本 + 松弛梯度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794760"/>
            <a:ext cx="5321808" cy="1508760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7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3794760"/>
            <a:ext cx="64008" cy="15087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3959352"/>
            <a:ext cx="497433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8FAFC"/>
                </a:solidFill>
                <a:latin typeface="Microsoft YaHei"/>
              </a:rPr>
              <a:t>来源 A · 事件时刻动态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398264"/>
            <a:ext cx="4974336" cy="7589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AFC2D4"/>
                </a:solidFill>
                <a:latin typeface="Microsoft YaHei"/>
              </a:rPr>
              <a:t>分段光滑，几乎处处可微。固定随机数后，autograd、有限差分和解析解吻合。无需松弛。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794760"/>
            <a:ext cx="5321808" cy="1508760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7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0488" y="3794760"/>
            <a:ext cx="64008" cy="15087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1655" y="3959352"/>
            <a:ext cx="497433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8FAFC"/>
                </a:solidFill>
                <a:latin typeface="Microsoft YaHei"/>
              </a:rPr>
              <a:t>来源 B · 离散决策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5" y="4398264"/>
            <a:ext cx="4974336" cy="7589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AFC2D4"/>
                </a:solidFill>
                <a:latin typeface="Microsoft YaHei"/>
              </a:rPr>
              <a:t>argsort / argmin 的目标关于参数分段常数。梯度几乎处处为零，需要松弛、扰动或操作性判据。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669280"/>
            <a:ext cx="9875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E5EEF5"/>
                </a:solidFill>
                <a:latin typeface="Microsoft YaHei"/>
              </a:rPr>
              <a:t>适配器没有改动冻结的 DDES 内核，只把 Observation 翻译成统一 Evaluation。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5303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DD4BF"/>
                </a:solidFill>
                <a:latin typeface="Microsoft YaHei"/>
              </a:rPr>
              <a:t>DOMAIN B · INTRALOGISTICS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6984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5EEF5"/>
                </a:solidFill>
                <a:latin typeface="Microsoft YaHei"/>
              </a:rPr>
              <a:t>Use case B：同一物流系统的三种入口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2728"/>
            <a:ext cx="658368" cy="4114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384048"/>
            <a:ext cx="3840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AFC2D4"/>
                </a:solidFill>
                <a:latin typeface="Microsoft YaHe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9672"/>
            <a:ext cx="4937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OPSWORLD · 统一决策世界模型框架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519672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3429000" cy="2194560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856231"/>
            <a:ext cx="3154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2DD4BF"/>
                </a:solidFill>
                <a:latin typeface="Microsoft YaHei"/>
              </a:rPr>
              <a:t>PlanWorld · C0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21991"/>
            <a:ext cx="3154680" cy="1618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5EEF5"/>
                </a:solidFill>
                <a:latin typeface="Microsoft YaHei"/>
              </a:rPr>
              <a:t>业务级决策
取料点 · 载具 · 主库存
render() 推导其余变量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737360"/>
            <a:ext cx="3429000" cy="2194560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1856231"/>
            <a:ext cx="3154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38BDF8"/>
                </a:solidFill>
                <a:latin typeface="Microsoft YaHei"/>
              </a:rPr>
              <a:t>StaticWorld · C0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221991"/>
            <a:ext cx="3154680" cy="1618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5EEF5"/>
                </a:solidFill>
                <a:latin typeface="Microsoft YaHei"/>
              </a:rPr>
              <a:t>原始变量配置
纯 NumPy 计算成本与违反量
不依赖求解器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737360"/>
            <a:ext cx="3429000" cy="2194560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1856231"/>
            <a:ext cx="3154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B923C"/>
                </a:solidFill>
                <a:latin typeface="Microsoft YaHei"/>
              </a:rPr>
              <a:t>MilpWorld · C0+C2b+C3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221991"/>
            <a:ext cx="3154680" cy="1618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5EEF5"/>
                </a:solidFill>
                <a:latin typeface="Microsoft YaHei"/>
              </a:rPr>
              <a:t>同一套代数的 Pyomo 表达
evaluate / solve_exact / duals
HiGHS · SCIP · CBC · Gurobi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77440" y="3931920"/>
            <a:ext cx="0" cy="475488"/>
          </a:xfrm>
          <a:prstGeom prst="line">
            <a:avLst/>
          </a:prstGeom>
          <a:ln w="1905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99048" y="3931920"/>
            <a:ext cx="0" cy="475488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820656" y="3931920"/>
            <a:ext cx="0" cy="475488"/>
          </a:xfrm>
          <a:prstGeom prst="line">
            <a:avLst/>
          </a:prstGeom>
          <a:ln w="19050">
            <a:solidFill>
              <a:srgbClr val="FB9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58368" y="4407408"/>
            <a:ext cx="10872216" cy="1115568"/>
          </a:xfrm>
          <a:prstGeom prst="roundRect">
            <a:avLst/>
          </a:prstGeom>
          <a:solidFill>
            <a:srgbClr val="0B1E2B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645152"/>
            <a:ext cx="1031443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F8FAFC"/>
                </a:solidFill>
                <a:latin typeface="Microsoft YaHei"/>
              </a:rPr>
              <a:t>共同输出：Evaluation(objective, kpis, violations, provenance)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047488"/>
            <a:ext cx="103144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2DD4BF"/>
                </a:solidFill>
                <a:latin typeface="Microsoft YaHei"/>
              </a:rPr>
              <a:t>三条独立路径对同一决策的目标值最大两两差 1.164e−10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5303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DD4BF"/>
                </a:solidFill>
                <a:latin typeface="Microsoft YaHei"/>
              </a:rPr>
              <a:t>SOLVER COMPATIBILITY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6984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5EEF5"/>
                </a:solidFill>
                <a:latin typeface="Microsoft YaHei"/>
              </a:rPr>
              <a:t>求解器能否使用，由能力与决策空间共同决定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2728"/>
            <a:ext cx="658368" cy="4114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384048"/>
            <a:ext cx="3840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AFC2D4"/>
                </a:solidFill>
                <a:latin typeface="Microsoft Ya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9672"/>
            <a:ext cx="4937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OPSWORLD · 统一决策世界模型框架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519672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600200"/>
            <a:ext cx="3063240" cy="502920"/>
          </a:xfrm>
          <a:prstGeom prst="rect">
            <a:avLst/>
          </a:prstGeom>
          <a:solidFill>
            <a:srgbClr val="17384B"/>
          </a:solidFill>
          <a:ln w="12700">
            <a:solidFill>
              <a:srgbClr val="17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19072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F8FAFC"/>
                </a:solidFill>
                <a:latin typeface="Microsoft YaHei"/>
              </a:rPr>
              <a:t>World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600200"/>
            <a:ext cx="1280160" cy="502920"/>
          </a:xfrm>
          <a:prstGeom prst="rect">
            <a:avLst/>
          </a:prstGeom>
          <a:solidFill>
            <a:srgbClr val="17384B"/>
          </a:solidFill>
          <a:ln w="12700">
            <a:solidFill>
              <a:srgbClr val="17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719072"/>
            <a:ext cx="118871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F8FAFC"/>
                </a:solidFill>
                <a:latin typeface="Microsoft YaHei"/>
              </a:rPr>
              <a:t>能力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1600200"/>
            <a:ext cx="1280160" cy="502920"/>
          </a:xfrm>
          <a:prstGeom prst="rect">
            <a:avLst/>
          </a:prstGeom>
          <a:solidFill>
            <a:srgbClr val="17384B"/>
          </a:solidFill>
          <a:ln w="12700">
            <a:solidFill>
              <a:srgbClr val="17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19072"/>
            <a:ext cx="118871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F8FAFC"/>
                </a:solidFill>
                <a:latin typeface="Microsoft YaHei"/>
              </a:rPr>
              <a:t>随机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86600" y="1600200"/>
            <a:ext cx="1280160" cy="502920"/>
          </a:xfrm>
          <a:prstGeom prst="rect">
            <a:avLst/>
          </a:prstGeom>
          <a:solidFill>
            <a:srgbClr val="17384B"/>
          </a:solidFill>
          <a:ln w="12700">
            <a:solidFill>
              <a:srgbClr val="17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1719072"/>
            <a:ext cx="118871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F8FAFC"/>
                </a:solidFill>
                <a:latin typeface="Microsoft YaHei"/>
              </a:rPr>
              <a:t>爬山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1600200"/>
            <a:ext cx="1280160" cy="502920"/>
          </a:xfrm>
          <a:prstGeom prst="rect">
            <a:avLst/>
          </a:prstGeom>
          <a:solidFill>
            <a:srgbClr val="17384B"/>
          </a:solidFill>
          <a:ln w="12700">
            <a:solidFill>
              <a:srgbClr val="17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719072"/>
            <a:ext cx="118871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F8FAFC"/>
                </a:solidFill>
                <a:latin typeface="Microsoft YaHei"/>
              </a:rPr>
              <a:t>梯度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12680" y="1600200"/>
            <a:ext cx="1325880" cy="502920"/>
          </a:xfrm>
          <a:prstGeom prst="rect">
            <a:avLst/>
          </a:prstGeom>
          <a:solidFill>
            <a:srgbClr val="17384B"/>
          </a:solidFill>
          <a:ln w="12700">
            <a:solidFill>
              <a:srgbClr val="17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1719072"/>
            <a:ext cx="123443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F8FAFC"/>
                </a:solidFill>
                <a:latin typeface="Microsoft YaHei"/>
              </a:rPr>
              <a:t>领域启发式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2121408"/>
            <a:ext cx="3063240" cy="530352"/>
          </a:xfrm>
          <a:prstGeom prst="rect">
            <a:avLst/>
          </a:prstGeom>
          <a:solidFill>
            <a:srgbClr val="0B1E2B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2240279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5EEF5"/>
                </a:solidFill>
                <a:latin typeface="Microsoft YaHei"/>
              </a:rPr>
              <a:t>gradientshop.dispatch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2121408"/>
            <a:ext cx="1280160" cy="530352"/>
          </a:xfrm>
          <a:prstGeom prst="rect">
            <a:avLst/>
          </a:prstGeom>
          <a:solidFill>
            <a:srgbClr val="0B1E2B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2240279"/>
            <a:ext cx="11887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5EEF5"/>
                </a:solidFill>
                <a:latin typeface="Microsoft YaHei"/>
              </a:rPr>
              <a:t>C0 C2a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23560" y="2121408"/>
            <a:ext cx="1280160" cy="530352"/>
          </a:xfrm>
          <a:prstGeom prst="rect">
            <a:avLst/>
          </a:prstGeom>
          <a:solidFill>
            <a:srgbClr val="0B1E2B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0" y="2240279"/>
            <a:ext cx="11887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DD4BF"/>
                </a:solidFill>
                <a:latin typeface="Microsoft YaHei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2121408"/>
            <a:ext cx="1280160" cy="530352"/>
          </a:xfrm>
          <a:prstGeom prst="rect">
            <a:avLst/>
          </a:prstGeom>
          <a:solidFill>
            <a:srgbClr val="0B1E2B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2240279"/>
            <a:ext cx="11887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DD4BF"/>
                </a:solidFill>
                <a:latin typeface="Microsoft YaHei"/>
              </a:rP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49640" y="2121408"/>
            <a:ext cx="1280160" cy="530352"/>
          </a:xfrm>
          <a:prstGeom prst="rect">
            <a:avLst/>
          </a:prstGeom>
          <a:solidFill>
            <a:srgbClr val="0B1E2B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2240279"/>
            <a:ext cx="11887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DD4BF"/>
                </a:solidFill>
                <a:latin typeface="Microsoft YaHei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12680" y="2121408"/>
            <a:ext cx="1325880" cy="530352"/>
          </a:xfrm>
          <a:prstGeom prst="rect">
            <a:avLst/>
          </a:prstGeom>
          <a:solidFill>
            <a:srgbClr val="0B1E2B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0" y="2240279"/>
            <a:ext cx="123443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AFC2D4"/>
                </a:solidFill>
                <a:latin typeface="Microsoft YaHe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2688336"/>
            <a:ext cx="3063240" cy="530352"/>
          </a:xfrm>
          <a:prstGeom prst="rect">
            <a:avLst/>
          </a:prstGeom>
          <a:solidFill>
            <a:srgbClr val="10283A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2807208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5EEF5"/>
                </a:solidFill>
                <a:latin typeface="Microsoft YaHei"/>
              </a:rPr>
              <a:t>intralogistics.sizing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20" y="2688336"/>
            <a:ext cx="1280160" cy="530352"/>
          </a:xfrm>
          <a:prstGeom prst="rect">
            <a:avLst/>
          </a:prstGeom>
          <a:solidFill>
            <a:srgbClr val="10283A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0" y="2807208"/>
            <a:ext cx="11887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5EEF5"/>
                </a:solidFill>
                <a:latin typeface="Microsoft YaHei"/>
              </a:rPr>
              <a:t>C0 C2a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23560" y="2688336"/>
            <a:ext cx="1280160" cy="530352"/>
          </a:xfrm>
          <a:prstGeom prst="rect">
            <a:avLst/>
          </a:prstGeom>
          <a:solidFill>
            <a:srgbClr val="10283A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0" y="2807208"/>
            <a:ext cx="11887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DD4BF"/>
                </a:solidFill>
                <a:latin typeface="Microsoft YaHei"/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86600" y="2688336"/>
            <a:ext cx="1280160" cy="530352"/>
          </a:xfrm>
          <a:prstGeom prst="rect">
            <a:avLst/>
          </a:prstGeom>
          <a:solidFill>
            <a:srgbClr val="10283A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0" y="2807208"/>
            <a:ext cx="11887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DD4BF"/>
                </a:solidFill>
                <a:latin typeface="Microsoft YaHei"/>
              </a:rP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49640" y="2688336"/>
            <a:ext cx="1280160" cy="530352"/>
          </a:xfrm>
          <a:prstGeom prst="rect">
            <a:avLst/>
          </a:prstGeom>
          <a:solidFill>
            <a:srgbClr val="10283A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0" y="2807208"/>
            <a:ext cx="11887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DD4BF"/>
                </a:solidFill>
                <a:latin typeface="Microsoft YaHei"/>
              </a:rPr>
              <a:t>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12680" y="2688336"/>
            <a:ext cx="1325880" cy="530352"/>
          </a:xfrm>
          <a:prstGeom prst="rect">
            <a:avLst/>
          </a:prstGeom>
          <a:solidFill>
            <a:srgbClr val="10283A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0" y="2807208"/>
            <a:ext cx="123443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AFC2D4"/>
                </a:solidFill>
                <a:latin typeface="Microsoft YaHe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3255263"/>
            <a:ext cx="3063240" cy="530352"/>
          </a:xfrm>
          <a:prstGeom prst="rect">
            <a:avLst/>
          </a:prstGeom>
          <a:solidFill>
            <a:srgbClr val="0B1E2B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3374135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5EEF5"/>
                </a:solidFill>
                <a:latin typeface="Microsoft YaHei"/>
              </a:rPr>
              <a:t>intralogistics.plan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60520" y="3255263"/>
            <a:ext cx="1280160" cy="530352"/>
          </a:xfrm>
          <a:prstGeom prst="rect">
            <a:avLst/>
          </a:prstGeom>
          <a:solidFill>
            <a:srgbClr val="0B1E2B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0" y="3374135"/>
            <a:ext cx="11887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5EEF5"/>
                </a:solidFill>
                <a:latin typeface="Microsoft YaHei"/>
              </a:rPr>
              <a:t>C0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23560" y="3255263"/>
            <a:ext cx="1280160" cy="530352"/>
          </a:xfrm>
          <a:prstGeom prst="rect">
            <a:avLst/>
          </a:prstGeom>
          <a:solidFill>
            <a:srgbClr val="0B1E2B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0" y="3374135"/>
            <a:ext cx="11887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DD4BF"/>
                </a:solidFill>
                <a:latin typeface="Microsoft YaHei"/>
              </a:rP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86600" y="3255263"/>
            <a:ext cx="1280160" cy="530352"/>
          </a:xfrm>
          <a:prstGeom prst="rect">
            <a:avLst/>
          </a:prstGeom>
          <a:solidFill>
            <a:srgbClr val="0B1E2B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0" y="3374135"/>
            <a:ext cx="11887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DD4BF"/>
                </a:solidFill>
                <a:latin typeface="Microsoft YaHei"/>
              </a:rP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49640" y="3255263"/>
            <a:ext cx="1280160" cy="530352"/>
          </a:xfrm>
          <a:prstGeom prst="rect">
            <a:avLst/>
          </a:prstGeom>
          <a:solidFill>
            <a:srgbClr val="0B1E2B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95360" y="3374135"/>
            <a:ext cx="11887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AFC2D4"/>
                </a:solidFill>
                <a:latin typeface="Microsoft YaHe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12680" y="3255263"/>
            <a:ext cx="1325880" cy="530352"/>
          </a:xfrm>
          <a:prstGeom prst="rect">
            <a:avLst/>
          </a:prstGeom>
          <a:solidFill>
            <a:srgbClr val="0B1E2B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0" y="3374135"/>
            <a:ext cx="123443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DD4BF"/>
                </a:solidFill>
                <a:latin typeface="Microsoft YaHei"/>
              </a:rPr>
              <a:t>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" y="3822191"/>
            <a:ext cx="3063240" cy="530352"/>
          </a:xfrm>
          <a:prstGeom prst="rect">
            <a:avLst/>
          </a:prstGeom>
          <a:solidFill>
            <a:srgbClr val="10283A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0120" y="3941063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5EEF5"/>
                </a:solidFill>
                <a:latin typeface="Microsoft YaHei"/>
              </a:rPr>
              <a:t>intralogistics.static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60520" y="3822191"/>
            <a:ext cx="1280160" cy="530352"/>
          </a:xfrm>
          <a:prstGeom prst="rect">
            <a:avLst/>
          </a:prstGeom>
          <a:solidFill>
            <a:srgbClr val="10283A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06240" y="3941063"/>
            <a:ext cx="11887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5EEF5"/>
                </a:solidFill>
                <a:latin typeface="Microsoft YaHei"/>
              </a:rPr>
              <a:t>C0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23560" y="3822191"/>
            <a:ext cx="1280160" cy="530352"/>
          </a:xfrm>
          <a:prstGeom prst="rect">
            <a:avLst/>
          </a:prstGeom>
          <a:solidFill>
            <a:srgbClr val="10283A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9280" y="3941063"/>
            <a:ext cx="11887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DD4BF"/>
                </a:solidFill>
                <a:latin typeface="Microsoft YaHei"/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86600" y="3822191"/>
            <a:ext cx="1280160" cy="530352"/>
          </a:xfrm>
          <a:prstGeom prst="rect">
            <a:avLst/>
          </a:prstGeom>
          <a:solidFill>
            <a:srgbClr val="10283A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32320" y="3941063"/>
            <a:ext cx="11887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DD4BF"/>
                </a:solidFill>
                <a:latin typeface="Microsoft YaHei"/>
              </a:rPr>
              <a:t>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49640" y="3822191"/>
            <a:ext cx="1280160" cy="530352"/>
          </a:xfrm>
          <a:prstGeom prst="rect">
            <a:avLst/>
          </a:prstGeom>
          <a:solidFill>
            <a:srgbClr val="10283A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95360" y="3941063"/>
            <a:ext cx="11887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AFC2D4"/>
                </a:solidFill>
                <a:latin typeface="Microsoft YaHe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12680" y="3822191"/>
            <a:ext cx="1325880" cy="530352"/>
          </a:xfrm>
          <a:prstGeom prst="rect">
            <a:avLst/>
          </a:prstGeom>
          <a:solidFill>
            <a:srgbClr val="10283A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58400" y="3941063"/>
            <a:ext cx="123443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AFC2D4"/>
                </a:solidFill>
                <a:latin typeface="Microsoft YaHe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4400" y="4389120"/>
            <a:ext cx="3063240" cy="530352"/>
          </a:xfrm>
          <a:prstGeom prst="rect">
            <a:avLst/>
          </a:prstGeom>
          <a:solidFill>
            <a:srgbClr val="0B1E2B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0120" y="4507992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5EEF5"/>
                </a:solidFill>
                <a:latin typeface="Microsoft YaHei"/>
              </a:rPr>
              <a:t>intralogistics.milp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60520" y="4389120"/>
            <a:ext cx="1280160" cy="530352"/>
          </a:xfrm>
          <a:prstGeom prst="rect">
            <a:avLst/>
          </a:prstGeom>
          <a:solidFill>
            <a:srgbClr val="0B1E2B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06240" y="4507992"/>
            <a:ext cx="11887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5EEF5"/>
                </a:solidFill>
                <a:latin typeface="Microsoft YaHei"/>
              </a:rPr>
              <a:t>C0 C2b C3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23560" y="4389120"/>
            <a:ext cx="1280160" cy="530352"/>
          </a:xfrm>
          <a:prstGeom prst="rect">
            <a:avLst/>
          </a:prstGeom>
          <a:solidFill>
            <a:srgbClr val="0B1E2B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69280" y="4507992"/>
            <a:ext cx="11887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DD4BF"/>
                </a:solidFill>
                <a:latin typeface="Microsoft YaHei"/>
              </a:rPr>
              <a:t>✓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86600" y="4389120"/>
            <a:ext cx="1280160" cy="530352"/>
          </a:xfrm>
          <a:prstGeom prst="rect">
            <a:avLst/>
          </a:prstGeom>
          <a:solidFill>
            <a:srgbClr val="0B1E2B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2320" y="4507992"/>
            <a:ext cx="11887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DD4BF"/>
                </a:solidFill>
                <a:latin typeface="Microsoft YaHei"/>
              </a:rPr>
              <a:t>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49640" y="4389120"/>
            <a:ext cx="1280160" cy="530352"/>
          </a:xfrm>
          <a:prstGeom prst="rect">
            <a:avLst/>
          </a:prstGeom>
          <a:solidFill>
            <a:srgbClr val="0B1E2B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95360" y="4507992"/>
            <a:ext cx="11887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AFC2D4"/>
                </a:solidFill>
                <a:latin typeface="Microsoft YaHei"/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012680" y="4389120"/>
            <a:ext cx="1325880" cy="530352"/>
          </a:xfrm>
          <a:prstGeom prst="rect">
            <a:avLst/>
          </a:prstGeom>
          <a:solidFill>
            <a:srgbClr val="0B1E2B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058400" y="4507992"/>
            <a:ext cx="123443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AFC2D4"/>
                </a:solidFill>
                <a:latin typeface="Microsoft YaHei"/>
              </a:rPr>
              <a:t>—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68680" y="5257800"/>
            <a:ext cx="10469880" cy="621792"/>
          </a:xfrm>
          <a:prstGeom prst="roundRect">
            <a:avLst/>
          </a:prstGeom>
          <a:solidFill>
            <a:srgbClr val="2A1B12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78992" y="5431536"/>
            <a:ext cx="100401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B923C"/>
                </a:solidFill>
                <a:latin typeface="Microsoft YaHei"/>
              </a:rPr>
              <a:t>注意：C3 已声明，但 exact MILP 尚未包装成统一 SolverSpec；贝叶斯优化的“向量决策”要求也尚未进入匹配规则。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5303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DD4BF"/>
                </a:solidFill>
                <a:latin typeface="Microsoft YaHei"/>
              </a:rPr>
              <a:t>PARAMETERISATION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6984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5EEF5"/>
                </a:solidFill>
                <a:latin typeface="Microsoft YaHei"/>
              </a:rPr>
              <a:t>最关键的工程经验：先设计对的决策空间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2728"/>
            <a:ext cx="658368" cy="4114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384048"/>
            <a:ext cx="3840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AFC2D4"/>
                </a:solidFill>
                <a:latin typeface="Microsoft Ya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9672"/>
            <a:ext cx="4937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OPSWORLD · 统一决策世界模型框架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519672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64208"/>
            <a:ext cx="4251960" cy="3246120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83080"/>
            <a:ext cx="3977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87171"/>
                </a:solidFill>
                <a:latin typeface="Microsoft YaHei"/>
              </a:rPr>
              <a:t>失败的参数化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48840"/>
            <a:ext cx="3977640" cy="2670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5EEF5"/>
                </a:solidFill>
                <a:latin typeface="Microsoft YaHei"/>
              </a:rPr>
              <a:t>直接搜索全部 MILP 变量
变量之间强耦合
空配置附近 2000 个候选
0 个能够改进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87184" y="1664208"/>
            <a:ext cx="4251960" cy="3246120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24344" y="1783080"/>
            <a:ext cx="3977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4ADE80"/>
                </a:solidFill>
                <a:latin typeface="Microsoft YaHei"/>
              </a:rPr>
              <a:t>有效的参数化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24344" y="2148840"/>
            <a:ext cx="3977640" cy="2670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5EEF5"/>
                </a:solidFill>
                <a:latin typeface="Microsoft YaHei"/>
              </a:rPr>
              <a:t>只搜索三个真实决策
取料点 · 载具 · 主库存
render() 推导其他变量
邻居按构造保持可行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74920" y="3291840"/>
            <a:ext cx="2039112" cy="0"/>
          </a:xfrm>
          <a:prstGeom prst="line">
            <a:avLst/>
          </a:prstGeom>
          <a:ln w="381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30368" y="2907792"/>
            <a:ext cx="1737360" cy="310896"/>
          </a:xfrm>
          <a:prstGeom prst="round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2916936"/>
            <a:ext cx="159105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6111A"/>
                </a:solidFill>
                <a:latin typeface="Microsoft YaHei"/>
              </a:rPr>
              <a:t>换参数化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358384"/>
            <a:ext cx="1007668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F8FAFC"/>
                </a:solidFill>
                <a:latin typeface="Microsoft YaHei"/>
              </a:rPr>
              <a:t>同一个不懂物流的 HillClimbSolver，换成 SupplyPlanSpace 后立即有效。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806440"/>
            <a:ext cx="998524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AFC2D4"/>
                </a:solidFill>
                <a:latin typeface="Microsoft YaHei"/>
              </a:rPr>
              <a:t>Phase 2 缺的不是求解器，而是让搜索动作对应真实业务决策。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5303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DD4BF"/>
                </a:solidFill>
                <a:latin typeface="Microsoft YaHei"/>
              </a:rPr>
              <a:t>MODEL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6984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5EEF5"/>
                </a:solidFill>
                <a:latin typeface="Microsoft YaHei"/>
              </a:rPr>
              <a:t>一个系统，三个时间尺度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2728"/>
            <a:ext cx="658368" cy="4114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384048"/>
            <a:ext cx="3840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AFC2D4"/>
                </a:solidFill>
                <a:latin typeface="Microsoft YaHe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9672"/>
            <a:ext cx="4937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OPSWORLD · 统一决策世界模型框架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519672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1554480"/>
            <a:ext cx="9079992" cy="1078992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92224" y="1737360"/>
            <a:ext cx="1417320" cy="310896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65376" y="1746504"/>
            <a:ext cx="127101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6111A"/>
                </a:solidFill>
                <a:latin typeface="Microsoft YaHei"/>
              </a:rPr>
              <a:t>T2 · 月—年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1719072"/>
            <a:ext cx="24231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8FAFC"/>
                </a:solidFill>
                <a:latin typeface="Microsoft YaHei"/>
              </a:rPr>
              <a:t>重构 MDP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700784"/>
            <a:ext cx="44348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AFC2D4"/>
                </a:solidFill>
                <a:latin typeface="Microsoft YaHei"/>
              </a:rPr>
              <a:t>状态 = 当前配置
动作 = 放置 / 重排
包含状态相关重构成本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9904" y="2633472"/>
            <a:ext cx="0" cy="411480"/>
          </a:xfrm>
          <a:prstGeom prst="line">
            <a:avLst/>
          </a:prstGeom>
          <a:ln w="19050">
            <a:solidFill>
              <a:srgbClr val="3150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54480" y="3090672"/>
            <a:ext cx="9079992" cy="1078992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792224" y="3273552"/>
            <a:ext cx="1417320" cy="310896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65376" y="3282696"/>
            <a:ext cx="127101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6111A"/>
                </a:solidFill>
                <a:latin typeface="Microsoft YaHei"/>
              </a:rPr>
              <a:t>T1 · 时—天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3255264"/>
            <a:ext cx="24231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8FAFC"/>
                </a:solidFill>
                <a:latin typeface="Microsoft YaHei"/>
              </a:rPr>
              <a:t>运营动态 / 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236976"/>
            <a:ext cx="44348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AFC2D4"/>
                </a:solidFill>
                <a:latin typeface="Microsoft YaHei"/>
              </a:rPr>
              <a:t>补货 · 运输 · 消耗 · 排队
库存是仿真输出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9904" y="4169663"/>
            <a:ext cx="0" cy="411481"/>
          </a:xfrm>
          <a:prstGeom prst="line">
            <a:avLst/>
          </a:prstGeom>
          <a:ln w="19050">
            <a:solidFill>
              <a:srgbClr val="3150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554480" y="4626864"/>
            <a:ext cx="9079992" cy="1078992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792224" y="4809744"/>
            <a:ext cx="1417320" cy="310896"/>
          </a:xfrm>
          <a:prstGeom prst="round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65376" y="4818888"/>
            <a:ext cx="127101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6111A"/>
                </a:solidFill>
                <a:latin typeface="Microsoft YaHei"/>
              </a:rPr>
              <a:t>T0 · 静态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4791455"/>
            <a:ext cx="24231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8FAFC"/>
                </a:solidFill>
                <a:latin typeface="Microsoft YaHei"/>
              </a:rPr>
              <a:t>成本 + 可行性 / MILP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4773168"/>
            <a:ext cx="44348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AFC2D4"/>
                </a:solidFill>
                <a:latin typeface="Microsoft YaHei"/>
              </a:rPr>
              <a:t>时间平均与稳态投影
库存作为外生输入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5897880"/>
            <a:ext cx="850392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DD4BF"/>
                </a:solidFill>
                <a:latin typeface="Microsoft YaHei"/>
              </a:rPr>
              <a:t>Little 定律 L = λW 是静态平均库存与动态流动过程之间的桥梁。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5303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DD4BF"/>
                </a:solidFill>
                <a:latin typeface="Microsoft YaHei"/>
              </a:rPr>
              <a:t>SCIENTIFIC CORE · RQ1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6984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5EEF5"/>
                </a:solidFill>
                <a:latin typeface="Microsoft YaHei"/>
              </a:rPr>
              <a:t>三种松弛结构，三种不同的失效机制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2728"/>
            <a:ext cx="658368" cy="4114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384048"/>
            <a:ext cx="3840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AFC2D4"/>
                </a:solidFill>
                <a:latin typeface="Microsoft YaHe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9672"/>
            <a:ext cx="4937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OPSWORLD · 统一决策世界模型框架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519672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3456432" cy="3977639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6968" y="1810512"/>
            <a:ext cx="2999232" cy="310896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19656"/>
            <a:ext cx="2852927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6111A"/>
                </a:solidFill>
                <a:latin typeface="Microsoft YaHei"/>
              </a:rPr>
              <a:t>一次性 · 确定性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290779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8FAFC"/>
                </a:solidFill>
                <a:latin typeface="Microsoft YaHei"/>
              </a:rPr>
              <a:t>SoftSort 替代 argsort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27248"/>
            <a:ext cx="290779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AFC2D4"/>
                </a:solidFill>
                <a:latin typeface="Microsoft YaHei"/>
              </a:rPr>
              <a:t>主要风险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456432"/>
            <a:ext cx="2907792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E5EEF5"/>
                </a:solidFill>
                <a:latin typeface="Microsoft YaHei"/>
              </a:rPr>
              <a:t>极限处方向可能失真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62272"/>
            <a:ext cx="290779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AFC2D4"/>
                </a:solidFill>
                <a:latin typeface="Microsoft YaHei"/>
              </a:rPr>
              <a:t>事前诊断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764024"/>
            <a:ext cx="290779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38BDF8"/>
                </a:solidFill>
                <a:latin typeface="Microsoft YaHei"/>
              </a:rPr>
              <a:t>判据：走一步后真实离散成本是否下降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1" y="1572768"/>
            <a:ext cx="3456432" cy="3977639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99431" y="1810512"/>
            <a:ext cx="2999232" cy="310896"/>
          </a:xfrm>
          <a:prstGeom prst="round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2583" y="1819656"/>
            <a:ext cx="2852927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6111A"/>
                </a:solidFill>
                <a:latin typeface="Microsoft YaHei"/>
              </a:rPr>
              <a:t>回路内 · 确定性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1" y="2487168"/>
            <a:ext cx="290779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8FAFC"/>
                </a:solidFill>
                <a:latin typeface="Microsoft YaHei"/>
              </a:rPr>
              <a:t>sigmoid 替代补货阈值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1" y="3127248"/>
            <a:ext cx="290779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AFC2D4"/>
                </a:solidFill>
                <a:latin typeface="Microsoft YaHei"/>
              </a:rPr>
              <a:t>主要风险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1" y="3456432"/>
            <a:ext cx="2907792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E5EEF5"/>
                </a:solidFill>
                <a:latin typeface="Microsoft YaHei"/>
              </a:rPr>
              <a:t>中间温度梯度可能连乘爆炸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1" y="4462272"/>
            <a:ext cx="290779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AFC2D4"/>
                </a:solidFill>
                <a:latin typeface="Microsoft YaHei"/>
              </a:rPr>
              <a:t>事前诊断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1" y="4764024"/>
            <a:ext cx="290779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B923C"/>
                </a:solidFill>
                <a:latin typeface="Microsoft YaHei"/>
              </a:rPr>
              <a:t>判据：saturation_fraction + 有限差分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3296" y="1572768"/>
            <a:ext cx="3456432" cy="3977639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11896" y="1810512"/>
            <a:ext cx="2999232" cy="310896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5048" y="1819656"/>
            <a:ext cx="2852927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6111A"/>
                </a:solidFill>
                <a:latin typeface="Microsoft YaHei"/>
              </a:rPr>
              <a:t>一次性 · 随机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6" y="2487168"/>
            <a:ext cx="290779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8FAFC"/>
                </a:solidFill>
                <a:latin typeface="Microsoft YaHei"/>
              </a:rPr>
              <a:t>扰动优化替代 argmin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6" y="3127248"/>
            <a:ext cx="290779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AFC2D4"/>
                </a:solidFill>
                <a:latin typeface="Microsoft YaHei"/>
              </a:rPr>
              <a:t>主要风险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6" y="3456432"/>
            <a:ext cx="2907792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E5EEF5"/>
                </a:solidFill>
                <a:latin typeface="Microsoft YaHei"/>
              </a:rPr>
              <a:t>ε 太小无信息；退化点按 1/ε 发散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6" y="4462272"/>
            <a:ext cx="290779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AFC2D4"/>
                </a:solidFill>
                <a:latin typeface="Microsoft YaHei"/>
              </a:rPr>
              <a:t>事前诊断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4764024"/>
            <a:ext cx="290779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A78BFA"/>
                </a:solidFill>
                <a:latin typeface="Microsoft YaHei"/>
              </a:rPr>
              <a:t>判据：distinct losses + ε·‖∇‖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5870448"/>
            <a:ext cx="10515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组织原则：梯度如何失效，主要由松弛在计算图中的位置决定，而不是由应用领域决定。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5303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DD4BF"/>
                </a:solidFill>
                <a:latin typeface="Microsoft YaHei"/>
              </a:rPr>
              <a:t>RESULTS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6984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5EEF5"/>
                </a:solidFill>
                <a:latin typeface="Microsoft YaHei"/>
              </a:rPr>
              <a:t>关键结果：框架、科学问题与应用价值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2728"/>
            <a:ext cx="658368" cy="4114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384048"/>
            <a:ext cx="3840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AFC2D4"/>
                </a:solidFill>
                <a:latin typeface="Microsoft YaHe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9672"/>
            <a:ext cx="4937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OPSWORLD · 统一决策世界模型框架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519672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08760"/>
            <a:ext cx="2578608" cy="1207008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7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36776"/>
            <a:ext cx="224942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2DD4BF"/>
                </a:solidFill>
                <a:latin typeface="Microsoft YaHei"/>
              </a:rPr>
              <a:t>1.164e−10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67128"/>
            <a:ext cx="224942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8FAFC"/>
                </a:solidFill>
                <a:latin typeface="Microsoft YaHei"/>
              </a:rPr>
              <a:t>三路径目标值最大差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423160"/>
            <a:ext cx="224942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FC2D4"/>
                </a:solidFill>
                <a:latin typeface="Microsoft YaHei"/>
              </a:rPr>
              <a:t>B&amp;B · Pyomo · NumPy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8144" y="1508760"/>
            <a:ext cx="2578608" cy="1207008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7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2736" y="1636776"/>
            <a:ext cx="224942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4ADE80"/>
                </a:solidFill>
                <a:latin typeface="Microsoft YaHei"/>
              </a:rPr>
              <a:t>−56%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2167128"/>
            <a:ext cx="224942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8FAFC"/>
                </a:solidFill>
                <a:latin typeface="Microsoft YaHei"/>
              </a:rPr>
              <a:t>电池产线 makespan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2423160"/>
            <a:ext cx="224942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FC2D4"/>
                </a:solidFill>
                <a:latin typeface="Microsoft YaHei"/>
              </a:rPr>
              <a:t>316.4 → 139.0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08760"/>
            <a:ext cx="2578608" cy="1207008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7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636776"/>
            <a:ext cx="224942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38BDF8"/>
                </a:solidFill>
                <a:latin typeface="Microsoft YaHei"/>
              </a:rPr>
              <a:t>5.3%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167128"/>
            <a:ext cx="224942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8FAFC"/>
                </a:solidFill>
                <a:latin typeface="Microsoft YaHei"/>
              </a:rPr>
              <a:t>LLM 策略距离散最优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23160"/>
            <a:ext cx="224942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FC2D4"/>
                </a:solidFill>
                <a:latin typeface="Microsoft YaHei"/>
              </a:rPr>
              <a:t>概念验证，不代表优于优化器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1508760"/>
            <a:ext cx="2542032" cy="1207008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7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62288" y="1636776"/>
            <a:ext cx="221284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B923C"/>
                </a:solidFill>
                <a:latin typeface="Microsoft YaHei"/>
              </a:rPr>
              <a:t>10–20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2167128"/>
            <a:ext cx="221284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8FAFC"/>
                </a:solidFill>
                <a:latin typeface="Microsoft YaHei"/>
              </a:rPr>
              <a:t>梯度达到领先水平所需评估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2423160"/>
            <a:ext cx="22128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FC2D4"/>
                </a:solidFill>
                <a:latin typeface="Microsoft YaHei"/>
              </a:rPr>
              <a:t>其他方法 200 次仍未达到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063240"/>
            <a:ext cx="2578608" cy="1207008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7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3191256"/>
            <a:ext cx="224942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B923C"/>
                </a:solidFill>
                <a:latin typeface="Microsoft YaHei"/>
              </a:rPr>
              <a:t>83×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3721608"/>
            <a:ext cx="224942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8FAFC"/>
                </a:solidFill>
                <a:latin typeface="Microsoft YaHei"/>
              </a:rPr>
              <a:t>8 物料启发式速度优势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3977639"/>
            <a:ext cx="224942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FC2D4"/>
                </a:solidFill>
                <a:latin typeface="Microsoft YaHei"/>
              </a:rPr>
              <a:t>1.7 s vs 140.6 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38144" y="3063240"/>
            <a:ext cx="2578608" cy="1207008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7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02736" y="3191256"/>
            <a:ext cx="224942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2DD4BF"/>
                </a:solidFill>
                <a:latin typeface="Microsoft YaHei"/>
              </a:rPr>
              <a:t>160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2736" y="3721608"/>
            <a:ext cx="224942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8FAFC"/>
                </a:solidFill>
                <a:latin typeface="Microsoft YaHei"/>
              </a:rPr>
              <a:t>启发式扩展到的物料数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2736" y="3977639"/>
            <a:ext cx="224942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FC2D4"/>
                </a:solidFill>
                <a:latin typeface="Microsoft YaHei"/>
              </a:rPr>
              <a:t>18 万整数变量 · 0.068 s 构造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063240"/>
            <a:ext cx="2578608" cy="1207008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7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3191256"/>
            <a:ext cx="224942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A78BFA"/>
                </a:solidFill>
                <a:latin typeface="Microsoft YaHei"/>
              </a:rPr>
              <a:t>−14.04%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3721608"/>
            <a:ext cx="224942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8FAFC"/>
                </a:solidFill>
                <a:latin typeface="Microsoft YaHei"/>
              </a:rPr>
              <a:t>一步前瞻降低慢尺度总成本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3977639"/>
            <a:ext cx="224942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FC2D4"/>
                </a:solidFill>
                <a:latin typeface="Microsoft YaHei"/>
              </a:rPr>
              <a:t>无需学习即可获得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97696" y="3063240"/>
            <a:ext cx="2542032" cy="1207008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7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62288" y="3191256"/>
            <a:ext cx="221284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87171"/>
                </a:solidFill>
                <a:latin typeface="Microsoft YaHei"/>
              </a:rPr>
              <a:t>+10.79%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62288" y="3721608"/>
            <a:ext cx="221284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8FAFC"/>
                </a:solidFill>
                <a:latin typeface="Microsoft YaHei"/>
              </a:rPr>
              <a:t>启发式在困难算例的最优差距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3977639"/>
            <a:ext cx="22128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FC2D4"/>
                </a:solidFill>
                <a:latin typeface="Microsoft YaHei"/>
              </a:rPr>
              <a:t>限制已定位，尚未修复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718304"/>
            <a:ext cx="10881360" cy="841248"/>
          </a:xfrm>
          <a:prstGeom prst="roundRect">
            <a:avLst/>
          </a:prstGeom>
          <a:solidFill>
            <a:srgbClr val="0B1E2B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983480"/>
            <a:ext cx="1036929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E5EEF5"/>
                </a:solidFill>
                <a:latin typeface="Microsoft YaHei"/>
              </a:rPr>
              <a:t>结果必须连同边界一起读：两个领域不足以证明通用性；最大精确对照仍只有 8 个物料。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5303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DD4BF"/>
                </a:solidFill>
                <a:latin typeface="Microsoft YaHei"/>
              </a:rPr>
              <a:t>VALIDATION &amp;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6984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5EEF5"/>
                </a:solidFill>
                <a:latin typeface="Microsoft YaHei"/>
              </a:rPr>
              <a:t>项目的可信度来自可证伪验证，而不是只展示成功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2728"/>
            <a:ext cx="658368" cy="4114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384048"/>
            <a:ext cx="3840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AFC2D4"/>
                </a:solidFill>
                <a:latin typeface="Microsoft YaHe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9672"/>
            <a:ext cx="4937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OPSWORLD · 统一决策世界模型框架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519672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00200"/>
            <a:ext cx="3456432" cy="1965960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7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00200"/>
            <a:ext cx="64008" cy="19659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64792"/>
            <a:ext cx="3108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8FAFC"/>
                </a:solidFill>
                <a:latin typeface="Microsoft YaHei"/>
              </a:rPr>
              <a:t>实现层验证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203704"/>
            <a:ext cx="3108960" cy="12161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AFC2D4"/>
                </a:solidFill>
                <a:latin typeface="Microsoft YaHei"/>
              </a:rPr>
              <a:t>E1：autograd = 有限差分 = 解析解（5 位有效数字）
E2：DDES = SimPy 同路径事件时刻（约 1e−15）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600200"/>
            <a:ext cx="3456432" cy="1965960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7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600200"/>
            <a:ext cx="64008" cy="1965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764792"/>
            <a:ext cx="3108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8FAFC"/>
                </a:solidFill>
                <a:latin typeface="Microsoft YaHei"/>
              </a:rPr>
              <a:t>模型层验证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03704"/>
            <a:ext cx="3108960" cy="12161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AFC2D4"/>
                </a:solidFill>
                <a:latin typeface="Microsoft YaHei"/>
              </a:rPr>
              <a:t>静态 / 动态比较同时统计 false-feasible 与 false-infeasible；主失效方向与原预期相反。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600200"/>
            <a:ext cx="3456432" cy="1965960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7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600200"/>
            <a:ext cx="64008" cy="19659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1764792"/>
            <a:ext cx="3108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8FAFC"/>
                </a:solidFill>
                <a:latin typeface="Microsoft YaHei"/>
              </a:rPr>
              <a:t>决策层验证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203704"/>
            <a:ext cx="3108960" cy="12161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AFC2D4"/>
                </a:solidFill>
                <a:latin typeface="Microsoft YaHei"/>
              </a:rPr>
              <a:t>不只看数值误差或排序相关性，而看模型最终是否选错方案、更新一步后真实成本是否下降。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005072"/>
            <a:ext cx="10881360" cy="1417320"/>
          </a:xfrm>
          <a:prstGeom prst="roundRect">
            <a:avLst/>
          </a:prstGeom>
          <a:solidFill>
            <a:srgbClr val="17384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242816"/>
            <a:ext cx="1234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A78BFA"/>
                </a:solidFill>
                <a:latin typeface="Microsoft YaHei"/>
              </a:rPr>
              <a:t>重要修正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5994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</a:rPr>
              <a:t>静态模型主要是过度保守，而非过于乐观 · ε·‖∇‖ 用于识别退化跳变点 · 余弦相似度被操作性判据取代 · 当前证据不足以支持引入 RL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5303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DD4BF"/>
                </a:solidFill>
                <a:latin typeface="Microsoft YaHei"/>
              </a:rPr>
              <a:t>HONEST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6984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5EEF5"/>
                </a:solidFill>
                <a:latin typeface="Microsoft YaHei"/>
              </a:rPr>
              <a:t>当前缺口与最值得做的下一步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2728"/>
            <a:ext cx="658368" cy="4114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384048"/>
            <a:ext cx="3840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AFC2D4"/>
                </a:solidFill>
                <a:latin typeface="Microsoft YaHe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9672"/>
            <a:ext cx="4937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OPSWORLD · 统一决策世界模型框架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519672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5303520" cy="1627632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7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64008" cy="162763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37360"/>
            <a:ext cx="49560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8FAFC"/>
                </a:solidFill>
                <a:latin typeface="Microsoft YaHei"/>
              </a:rPr>
              <a:t>C3 尚未成为 Solver 插件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76272"/>
            <a:ext cx="4956048" cy="8778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20" b="0">
                <a:solidFill>
                  <a:srgbClr val="AFC2D4"/>
                </a:solidFill>
                <a:latin typeface="Microsoft YaHei"/>
              </a:rPr>
              <a:t>将 MilpWorld.solve_exact() 包装为 exact-milp SolverSpec，并接入 HTTP / registry。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72768"/>
            <a:ext cx="5303520" cy="1627632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7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72768"/>
            <a:ext cx="64008" cy="16276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737360"/>
            <a:ext cx="49560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8FAFC"/>
                </a:solidFill>
                <a:latin typeface="Microsoft YaHei"/>
              </a:rPr>
              <a:t>C1 仍悬空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176272"/>
            <a:ext cx="4956048" cy="8778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20" b="0">
                <a:solidFill>
                  <a:srgbClr val="AFC2D4"/>
                </a:solidFill>
                <a:latin typeface="Microsoft YaHei"/>
              </a:rPr>
              <a:t>为 reconfiguration world 增加 MPC / rollout 基线；满足证据条件后再考虑 RL。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538728"/>
            <a:ext cx="5303520" cy="1627632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7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538728"/>
            <a:ext cx="64008" cy="16276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703320"/>
            <a:ext cx="49560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8FAFC"/>
                </a:solidFill>
                <a:latin typeface="Microsoft YaHei"/>
              </a:rPr>
              <a:t>决策空间约束描述不完整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142232"/>
            <a:ext cx="4956048" cy="8778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20" b="0">
                <a:solidFill>
                  <a:srgbClr val="AFC2D4"/>
                </a:solidFill>
                <a:latin typeface="Microsoft YaHei"/>
              </a:rPr>
              <a:t>显式声明 vector / moves / projection 等要求，修复 bayes 被错误提供给非向量决策的问题。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538728"/>
            <a:ext cx="5303520" cy="1627632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73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538728"/>
            <a:ext cx="64008" cy="16276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703320"/>
            <a:ext cx="49560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8FAFC"/>
                </a:solidFill>
                <a:latin typeface="Microsoft YaHei"/>
              </a:rPr>
              <a:t>GradientShop 暴露面偏窄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142232"/>
            <a:ext cx="4956048" cy="8778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20" b="0">
                <a:solidFill>
                  <a:srgbClr val="AFC2D4"/>
                </a:solidFill>
                <a:latin typeface="Microsoft YaHei"/>
              </a:rPr>
              <a:t>将 line、battery 等模型注册为 WorldSpec，展示基础设施覆盖整个领域而非单一 dispatch。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577840"/>
            <a:ext cx="10863072" cy="502920"/>
          </a:xfrm>
          <a:prstGeom prst="round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705856"/>
            <a:ext cx="10332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6111A"/>
                </a:solidFill>
                <a:latin typeface="Microsoft YaHei"/>
              </a:rPr>
              <a:t>优先级：先闭合“常规求解器互通”，再扩展新的可微能力。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01752"/>
            <a:ext cx="5303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DD4BF"/>
                </a:solidFill>
                <a:latin typeface="Microsoft YaHei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6984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5EEF5"/>
                </a:solidFill>
                <a:latin typeface="Microsoft YaHei"/>
              </a:rPr>
              <a:t>带走这四句话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2728"/>
            <a:ext cx="658368" cy="4114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384048"/>
            <a:ext cx="3840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AFC2D4"/>
                </a:solidFill>
                <a:latin typeface="Microsoft YaHe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9672"/>
            <a:ext cx="4937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OPSWORLD · 统一决策世界模型框架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519672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315064"/>
                </a:solidFill>
                <a:latin typeface="Microsoft YaHe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91056"/>
            <a:ext cx="658368" cy="310896"/>
          </a:xfrm>
          <a:prstGeom prst="round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00200"/>
            <a:ext cx="512063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6111A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81328"/>
            <a:ext cx="290779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8FAFC"/>
                </a:solidFill>
                <a:latin typeface="Microsoft YaHei"/>
              </a:rPr>
              <a:t>opsworld 是共同基地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481328"/>
            <a:ext cx="662940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AFC2D4"/>
                </a:solidFill>
                <a:latin typeface="Microsoft YaHei"/>
              </a:rPr>
              <a:t>统一评价、决策空间和求解器协议，而不是统一领域物理。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679192"/>
            <a:ext cx="658368" cy="310896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688336"/>
            <a:ext cx="512063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6111A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2569464"/>
            <a:ext cx="290779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8FAFC"/>
                </a:solidFill>
                <a:latin typeface="Microsoft YaHei"/>
              </a:rPr>
              <a:t>C0 先保证功能性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569464"/>
            <a:ext cx="662940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AFC2D4"/>
                </a:solidFill>
                <a:latin typeface="Microsoft YaHei"/>
              </a:rPr>
              <a:t>任何模型先做到 decision → Evaluation；可微性只是后续升级。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767328"/>
            <a:ext cx="658368" cy="310896"/>
          </a:xfrm>
          <a:prstGeom prst="round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776472"/>
            <a:ext cx="512063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6111A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3657600"/>
            <a:ext cx="290779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8FAFC"/>
                </a:solidFill>
                <a:latin typeface="Microsoft YaHei"/>
              </a:rPr>
              <a:t>参数化决定搜索是否可用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657600"/>
            <a:ext cx="662940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AFC2D4"/>
                </a:solidFill>
                <a:latin typeface="Microsoft YaHei"/>
              </a:rPr>
              <a:t>真实业务决策应被直接搜索，其余变量应由模型推导。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855464"/>
            <a:ext cx="658368" cy="310896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864607"/>
            <a:ext cx="512063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6111A"/>
                </a:solidFill>
                <a:latin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4745736"/>
            <a:ext cx="290779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8FAFC"/>
                </a:solidFill>
                <a:latin typeface="Microsoft YaHei"/>
              </a:rPr>
              <a:t>互通已经开始，但还未完成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745736"/>
            <a:ext cx="662940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AFC2D4"/>
                </a:solidFill>
                <a:latin typeface="Microsoft YaHei"/>
              </a:rPr>
              <a:t>通用评价与部分求解已打通；exact、C1 和空间类型仍需闭环。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5897880"/>
            <a:ext cx="10497312" cy="411480"/>
          </a:xfrm>
          <a:prstGeom prst="roundRect">
            <a:avLst/>
          </a:prstGeom>
          <a:solidFill>
            <a:srgbClr val="0B1E2B"/>
          </a:solidFill>
          <a:ln w="12700">
            <a:solidFill>
              <a:srgbClr val="31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6007608"/>
            <a:ext cx="1016812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2DD4BF"/>
                </a:solidFill>
                <a:latin typeface="Microsoft YaHei"/>
              </a:rPr>
              <a:t>代码入口：src/opsworld/{world,problem,solver}.py · src/gradientshop/world.py · src/intralogistics/{world,heuristic,milp_model}.py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